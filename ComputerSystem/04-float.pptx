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732" r:id="rId5"/>
    <p:sldMasterId id="2147483746" r:id="rId6"/>
  </p:sldMasterIdLst>
  <p:notesMasterIdLst>
    <p:notesMasterId r:id="rId54"/>
  </p:notesMasterIdLst>
  <p:handoutMasterIdLst>
    <p:handoutMasterId r:id="rId55"/>
  </p:handoutMasterIdLst>
  <p:sldIdLst>
    <p:sldId id="298" r:id="rId7"/>
    <p:sldId id="309" r:id="rId8"/>
    <p:sldId id="310" r:id="rId9"/>
    <p:sldId id="31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99" r:id="rId21"/>
    <p:sldId id="269" r:id="rId22"/>
    <p:sldId id="270" r:id="rId23"/>
    <p:sldId id="305" r:id="rId24"/>
    <p:sldId id="307" r:id="rId25"/>
    <p:sldId id="306" r:id="rId26"/>
    <p:sldId id="271" r:id="rId27"/>
    <p:sldId id="272" r:id="rId28"/>
    <p:sldId id="273" r:id="rId29"/>
    <p:sldId id="274" r:id="rId30"/>
    <p:sldId id="275" r:id="rId31"/>
    <p:sldId id="276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2" r:id="rId46"/>
    <p:sldId id="308" r:id="rId47"/>
    <p:sldId id="300" r:id="rId48"/>
    <p:sldId id="301" r:id="rId49"/>
    <p:sldId id="302" r:id="rId50"/>
    <p:sldId id="303" r:id="rId51"/>
    <p:sldId id="293" r:id="rId52"/>
    <p:sldId id="277" r:id="rId53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48">
          <p15:clr>
            <a:srgbClr val="A4A3A4"/>
          </p15:clr>
        </p15:guide>
        <p15:guide id="2" pos="2784">
          <p15:clr>
            <a:srgbClr val="A4A3A4"/>
          </p15:clr>
        </p15:guide>
        <p15:guide id="3" pos="41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11" autoAdjust="0"/>
  </p:normalViewPr>
  <p:slideViewPr>
    <p:cSldViewPr>
      <p:cViewPr varScale="1">
        <p:scale>
          <a:sx n="79" d="100"/>
          <a:sy n="79" d="100"/>
        </p:scale>
        <p:origin x="77" y="854"/>
      </p:cViewPr>
      <p:guideLst>
        <p:guide orient="horz" pos="3648"/>
        <p:guide pos="2784"/>
        <p:guide pos="41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60"/>
    </p:cViewPr>
  </p:sorterViewPr>
  <p:notesViewPr>
    <p:cSldViewPr>
      <p:cViewPr varScale="1">
        <p:scale>
          <a:sx n="148" d="100"/>
          <a:sy n="148" d="100"/>
        </p:scale>
        <p:origin x="-1925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C02A0-2CB8-F64C-87A7-A5563D28AA9B}" type="datetimeFigureOut">
              <a:rPr lang="en-US" smtClean="0"/>
              <a:pPr/>
              <a:t>8/18/2024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85E4B-77DA-1E4C-9EDA-713D746B90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8722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7888"/>
          </a:xfrm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5214"/>
            <a:ext cx="5030390" cy="4113893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7888"/>
          </a:xfrm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5214"/>
            <a:ext cx="5030390" cy="4113893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425"/>
              </a:spcBef>
            </a:pPr>
            <a:r>
              <a:rPr lang="en-US" dirty="0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Latex source for equation: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\sum_{k=-j}^</a:t>
            </a:r>
            <a:r>
              <a:rPr lang="en-US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i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 </a:t>
            </a:r>
            <a:r>
              <a:rPr lang="en-US" dirty="0" err="1">
                <a:latin typeface="Monaco" charset="0"/>
                <a:ea typeface="Monaco" charset="0"/>
                <a:cs typeface="Monaco" charset="0"/>
                <a:sym typeface="Monaco" charset="0"/>
              </a:rPr>
              <a:t>b_k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 \times 2^k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72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1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916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48528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6050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1146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922730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97380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7071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83609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4565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205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52892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471957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64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+mj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+mj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13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 sz="240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eaLnBrk="0" hangingPunct="0"/>
            <a:fld id="{F5551B27-49BC-4291-80C6-707CDCF1D651}" type="slidenum">
              <a:rPr lang="en-US" sz="1000" b="1" smtClean="0"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 algn="l" eaLnBrk="0" hangingPunct="0"/>
              <a:t>‹#›</a:t>
            </a:fld>
            <a:endParaRPr lang="en-US" sz="1000" b="1" dirty="0"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0" hangingPunct="0"/>
            <a:r>
              <a:rPr lang="en-US" sz="1000" dirty="0">
                <a:latin typeface="Calibri" pitchFamily="34" charset="0"/>
                <a:ea typeface="+mn-ea"/>
                <a:cs typeface="+mn-cs"/>
              </a:rPr>
              <a:t>Bryant and </a:t>
            </a:r>
            <a:r>
              <a:rPr lang="en-US" sz="1000" dirty="0" err="1">
                <a:latin typeface="Calibri" pitchFamily="34" charset="0"/>
                <a:ea typeface="+mn-ea"/>
                <a:cs typeface="+mn-cs"/>
              </a:rPr>
              <a:t>O’Hallaron</a:t>
            </a:r>
            <a:r>
              <a:rPr lang="en-US" sz="1000" dirty="0">
                <a:latin typeface="Calibri" pitchFamily="34" charset="0"/>
                <a:ea typeface="+mn-ea"/>
                <a:cs typeface="+mn-cs"/>
              </a:rPr>
              <a:t>, Computer Systems: A Programmer’s Perspective, Third Edition</a:t>
            </a:r>
          </a:p>
        </p:txBody>
      </p:sp>
    </p:spTree>
    <p:extLst>
      <p:ext uri="{BB962C8B-B14F-4D97-AF65-F5344CB8AC3E}">
        <p14:creationId xmlns:p14="http://schemas.microsoft.com/office/powerpoint/2010/main" val="186631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sldNum="0" hdr="0" ftr="0" dt="0"/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google.com/url?sa=i&amp;rct=j&amp;q=&amp;esrc=s&amp;frm=1&amp;source=images&amp;cd=&amp;cad=rja&amp;uact=8&amp;ved=0ahUKEwiq_bnxubbKAhWDHh4KHe0lA-cQjRwIBw&amp;url=https://commons.wikimedia.org/wiki/File:Red_x.svg&amp;bvm=bv.112064104,d.dmo&amp;psig=AFQjCNFfdi-zR8KFDHdPCO6tKFT_z9ko5A&amp;ust=1453312679784653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hyperlink" Target="https://upload.wikimedia.org/wikipedia/commons/archive/0/03/20080524210756!Green_check.svg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/>
          </p:cNvSpPr>
          <p:nvPr/>
        </p:nvSpPr>
        <p:spPr bwMode="auto">
          <a:xfrm>
            <a:off x="685800" y="4076700"/>
            <a:ext cx="2076064" cy="753411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>
              <a:spcBef>
                <a:spcPts val="475"/>
              </a:spcBef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Calibri Bold" charset="0"/>
                <a:cs typeface="Calibri Bold" charset="0"/>
                <a:sym typeface="Calibri Bold" charset="0"/>
              </a:rPr>
              <a:t>Today’s Instructor:</a:t>
            </a:r>
            <a:r>
              <a:rPr lang="en-US" sz="2000" b="1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 </a:t>
            </a:r>
          </a:p>
          <a:p>
            <a:pPr algn="l">
              <a:spcBef>
                <a:spcPts val="475"/>
              </a:spcBef>
            </a:pPr>
            <a:r>
              <a:rPr lang="en-US" sz="20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Randy Bryant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820862"/>
          </a:xfrm>
        </p:spPr>
        <p:txBody>
          <a:bodyPr/>
          <a:lstStyle/>
          <a:p>
            <a:pPr marL="0" indent="0"/>
            <a:r>
              <a:rPr lang="en-US" b="1" dirty="0">
                <a:latin typeface="+mn-lt"/>
              </a:rPr>
              <a:t>Floating Point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15-213: Introduction to Computer Systems</a:t>
            </a:r>
            <a:br>
              <a:rPr lang="en-US" b="0" dirty="0"/>
            </a:br>
            <a:r>
              <a:rPr lang="en-US" sz="2000" dirty="0"/>
              <a:t>4</a:t>
            </a:r>
            <a:r>
              <a:rPr lang="en-US" sz="2000" baseline="30000" dirty="0"/>
              <a:t>th</a:t>
            </a:r>
            <a:r>
              <a:rPr lang="en-US" sz="2000" b="0" dirty="0"/>
              <a:t> Lecture, </a:t>
            </a:r>
            <a:r>
              <a:rPr lang="en-US" sz="2000" dirty="0"/>
              <a:t>Sept. 8</a:t>
            </a:r>
            <a:r>
              <a:rPr lang="en-US" sz="2000" b="0" dirty="0"/>
              <a:t>, 2016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 from last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396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Unsigned Multiplication in C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0350" y="3689350"/>
            <a:ext cx="5149850" cy="16430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Standard Multiplication Function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Ignores high order </a:t>
            </a:r>
            <a:r>
              <a:rPr lang="en-US" b="0" i="1"/>
              <a:t>w</a:t>
            </a:r>
            <a:r>
              <a:rPr lang="en-US"/>
              <a:t> bits</a:t>
            </a:r>
          </a:p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/>
              <a:t>Implements Modular Arithmetic</a:t>
            </a:r>
          </a:p>
          <a:p>
            <a:pPr lvl="1" eaLnBrk="1" hangingPunct="1">
              <a:buFont typeface="Wingdings" pitchFamily="2" charset="2"/>
              <a:buNone/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b="0"/>
              <a:t>UMult</a:t>
            </a:r>
            <a:r>
              <a:rPr lang="en-US" b="0" i="1" baseline="-25000"/>
              <a:t>w</a:t>
            </a:r>
            <a:r>
              <a:rPr lang="en-US" b="0"/>
              <a:t>(</a:t>
            </a:r>
            <a:r>
              <a:rPr lang="en-US" b="0" i="1"/>
              <a:t>u</a:t>
            </a:r>
            <a:r>
              <a:rPr lang="en-US" b="0"/>
              <a:t> , </a:t>
            </a:r>
            <a:r>
              <a:rPr lang="en-US" b="0" i="1"/>
              <a:t>v</a:t>
            </a:r>
            <a:r>
              <a:rPr lang="en-US" b="0"/>
              <a:t>)	=	</a:t>
            </a:r>
            <a:r>
              <a:rPr lang="en-US" b="0" i="1"/>
              <a:t>u</a:t>
            </a:r>
            <a:r>
              <a:rPr lang="en-US" b="0"/>
              <a:t>   · </a:t>
            </a:r>
            <a:r>
              <a:rPr lang="en-US" b="0" i="1"/>
              <a:t>v</a:t>
            </a:r>
            <a:r>
              <a:rPr lang="en-US" b="0"/>
              <a:t>  mod 2</a:t>
            </a:r>
            <a:r>
              <a:rPr lang="en-US" b="0" i="1" baseline="30000"/>
              <a:t>w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72200" y="1524000"/>
            <a:ext cx="2743200" cy="228600"/>
            <a:chOff x="2976" y="816"/>
            <a:chExt cx="1728" cy="144"/>
          </a:xfrm>
        </p:grpSpPr>
        <p:sp>
          <p:nvSpPr>
            <p:cNvPr id="36911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2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3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4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5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6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7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72200" y="1981200"/>
            <a:ext cx="2743200" cy="228600"/>
            <a:chOff x="2976" y="1104"/>
            <a:chExt cx="1728" cy="144"/>
          </a:xfrm>
        </p:grpSpPr>
        <p:sp>
          <p:nvSpPr>
            <p:cNvPr id="36904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5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6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7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8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9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10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36870" name="Rectangle 20"/>
          <p:cNvSpPr>
            <a:spLocks noChangeArrowheads="1"/>
          </p:cNvSpPr>
          <p:nvPr/>
        </p:nvSpPr>
        <p:spPr bwMode="auto">
          <a:xfrm>
            <a:off x="5562600" y="14478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u</a:t>
            </a:r>
          </a:p>
        </p:txBody>
      </p:sp>
      <p:sp>
        <p:nvSpPr>
          <p:cNvPr id="36871" name="Rectangle 21"/>
          <p:cNvSpPr>
            <a:spLocks noChangeArrowheads="1"/>
          </p:cNvSpPr>
          <p:nvPr/>
        </p:nvSpPr>
        <p:spPr bwMode="auto">
          <a:xfrm>
            <a:off x="5562600" y="19050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v</a:t>
            </a:r>
          </a:p>
        </p:txBody>
      </p:sp>
      <p:sp>
        <p:nvSpPr>
          <p:cNvPr id="36872" name="Line 22"/>
          <p:cNvSpPr>
            <a:spLocks noChangeShapeType="1"/>
          </p:cNvSpPr>
          <p:nvPr/>
        </p:nvSpPr>
        <p:spPr bwMode="auto">
          <a:xfrm>
            <a:off x="2743200" y="22860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 b="1"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36873" name="Rectangle 23"/>
          <p:cNvSpPr>
            <a:spLocks noChangeArrowheads="1"/>
          </p:cNvSpPr>
          <p:nvPr/>
        </p:nvSpPr>
        <p:spPr bwMode="auto">
          <a:xfrm>
            <a:off x="5181600" y="19050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>
                <a:latin typeface="Arial Narrow" pitchFamily="34" charset="0"/>
                <a:ea typeface="+mn-ea"/>
                <a:cs typeface="+mn-cs"/>
              </a:rPr>
              <a:t>*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172200" y="2438400"/>
            <a:ext cx="2743200" cy="228600"/>
            <a:chOff x="2976" y="1392"/>
            <a:chExt cx="1728" cy="144"/>
          </a:xfrm>
        </p:grpSpPr>
        <p:sp>
          <p:nvSpPr>
            <p:cNvPr id="36897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8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9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0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1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2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903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36875" name="Rectangle 32"/>
          <p:cNvSpPr>
            <a:spLocks noChangeArrowheads="1"/>
          </p:cNvSpPr>
          <p:nvPr/>
        </p:nvSpPr>
        <p:spPr bwMode="auto">
          <a:xfrm>
            <a:off x="2857500" y="2286000"/>
            <a:ext cx="571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u </a:t>
            </a:r>
            <a:r>
              <a:rPr lang="en-US" sz="2400">
                <a:latin typeface="Times" pitchFamily="18" charset="0"/>
                <a:ea typeface="+mn-ea"/>
                <a:cs typeface="+mn-cs"/>
              </a:rPr>
              <a:t>· </a:t>
            </a:r>
            <a:r>
              <a:rPr lang="en-US" sz="2400" i="1">
                <a:latin typeface="Times" pitchFamily="18" charset="0"/>
                <a:ea typeface="+mn-ea"/>
                <a:cs typeface="+mn-cs"/>
              </a:rPr>
              <a:t>v</a:t>
            </a: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6172200" y="2895600"/>
            <a:ext cx="2743200" cy="228600"/>
            <a:chOff x="2976" y="1392"/>
            <a:chExt cx="1728" cy="144"/>
          </a:xfrm>
        </p:grpSpPr>
        <p:sp>
          <p:nvSpPr>
            <p:cNvPr id="36890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1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2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3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4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5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96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36877" name="Line 41"/>
          <p:cNvSpPr>
            <a:spLocks noChangeShapeType="1"/>
          </p:cNvSpPr>
          <p:nvPr/>
        </p:nvSpPr>
        <p:spPr bwMode="auto">
          <a:xfrm flipV="1">
            <a:off x="2743200" y="2743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 b="1"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36878" name="Text Box 42"/>
          <p:cNvSpPr txBox="1">
            <a:spLocks noChangeArrowheads="1"/>
          </p:cNvSpPr>
          <p:nvPr/>
        </p:nvSpPr>
        <p:spPr bwMode="auto">
          <a:xfrm>
            <a:off x="228600" y="2362200"/>
            <a:ext cx="258679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True Product: 2*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 bits</a:t>
            </a:r>
          </a:p>
        </p:txBody>
      </p:sp>
      <p:sp>
        <p:nvSpPr>
          <p:cNvPr id="36879" name="Text Box 43"/>
          <p:cNvSpPr txBox="1">
            <a:spLocks noChangeArrowheads="1"/>
          </p:cNvSpPr>
          <p:nvPr/>
        </p:nvSpPr>
        <p:spPr bwMode="auto">
          <a:xfrm>
            <a:off x="228600" y="16764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Operands: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</a:t>
            </a:r>
          </a:p>
        </p:txBody>
      </p:sp>
      <p:sp>
        <p:nvSpPr>
          <p:cNvPr id="36880" name="Text Box 44"/>
          <p:cNvSpPr txBox="1">
            <a:spLocks noChangeArrowheads="1"/>
          </p:cNvSpPr>
          <p:nvPr/>
        </p:nvSpPr>
        <p:spPr bwMode="auto">
          <a:xfrm>
            <a:off x="228600" y="29718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Discard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bits: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</a:t>
            </a:r>
          </a:p>
        </p:txBody>
      </p:sp>
      <p:sp>
        <p:nvSpPr>
          <p:cNvPr id="36881" name="Rectangle 45"/>
          <p:cNvSpPr>
            <a:spLocks noChangeArrowheads="1"/>
          </p:cNvSpPr>
          <p:nvPr/>
        </p:nvSpPr>
        <p:spPr bwMode="auto">
          <a:xfrm>
            <a:off x="4584700" y="2743200"/>
            <a:ext cx="14351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2400">
                <a:latin typeface="Times" pitchFamily="18" charset="0"/>
                <a:ea typeface="+mn-ea"/>
                <a:cs typeface="+mn-cs"/>
              </a:rPr>
              <a:t>UMult</a:t>
            </a:r>
            <a:r>
              <a:rPr lang="en-US" sz="2400" i="1" baseline="-25000">
                <a:latin typeface="Times" pitchFamily="18" charset="0"/>
                <a:ea typeface="+mn-ea"/>
                <a:cs typeface="+mn-cs"/>
              </a:rPr>
              <a:t>w</a:t>
            </a:r>
            <a:r>
              <a:rPr lang="en-US" sz="2400">
                <a:latin typeface="Times" pitchFamily="18" charset="0"/>
                <a:ea typeface="+mn-ea"/>
                <a:cs typeface="+mn-cs"/>
              </a:rPr>
              <a:t>(</a:t>
            </a:r>
            <a:r>
              <a:rPr lang="en-US" sz="2400" i="1">
                <a:latin typeface="Times" pitchFamily="18" charset="0"/>
                <a:ea typeface="+mn-ea"/>
                <a:cs typeface="+mn-cs"/>
              </a:rPr>
              <a:t>u</a:t>
            </a:r>
            <a:r>
              <a:rPr lang="en-US" sz="2400">
                <a:latin typeface="Times" pitchFamily="18" charset="0"/>
                <a:ea typeface="+mn-ea"/>
                <a:cs typeface="+mn-cs"/>
              </a:rPr>
              <a:t> , </a:t>
            </a:r>
            <a:r>
              <a:rPr lang="en-US" sz="2400" i="1">
                <a:latin typeface="Times" pitchFamily="18" charset="0"/>
                <a:ea typeface="+mn-ea"/>
                <a:cs typeface="+mn-cs"/>
              </a:rPr>
              <a:t>v</a:t>
            </a:r>
            <a:r>
              <a:rPr lang="en-US" sz="2400">
                <a:latin typeface="Times" pitchFamily="18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429000" y="2438400"/>
            <a:ext cx="2743200" cy="228600"/>
            <a:chOff x="2976" y="1392"/>
            <a:chExt cx="1728" cy="14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6883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4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5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6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7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8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36889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69" name="Rectangle 5"/>
          <p:cNvSpPr>
            <a:spLocks/>
          </p:cNvSpPr>
          <p:nvPr/>
        </p:nvSpPr>
        <p:spPr bwMode="auto">
          <a:xfrm>
            <a:off x="2895600" y="5350589"/>
            <a:ext cx="3221395" cy="10259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       1110 1001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          1101 0101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ourier New Bold" charset="0"/>
              <a:ea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0" name="Line 6"/>
          <p:cNvSpPr>
            <a:spLocks noChangeShapeType="1"/>
          </p:cNvSpPr>
          <p:nvPr/>
        </p:nvSpPr>
        <p:spPr bwMode="auto">
          <a:xfrm>
            <a:off x="2925483" y="6036389"/>
            <a:ext cx="309431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1" name="Rectangle 13"/>
          <p:cNvSpPr>
            <a:spLocks/>
          </p:cNvSpPr>
          <p:nvPr/>
        </p:nvSpPr>
        <p:spPr bwMode="auto">
          <a:xfrm>
            <a:off x="2895600" y="6007020"/>
            <a:ext cx="3221896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1100 0001 1101 1101</a:t>
            </a:r>
          </a:p>
        </p:txBody>
      </p:sp>
      <p:sp>
        <p:nvSpPr>
          <p:cNvPr id="72" name="Rectangle 13"/>
          <p:cNvSpPr>
            <a:spLocks/>
          </p:cNvSpPr>
          <p:nvPr/>
        </p:nvSpPr>
        <p:spPr bwMode="auto">
          <a:xfrm>
            <a:off x="2895600" y="6371431"/>
            <a:ext cx="3221395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       1101 1101</a:t>
            </a:r>
          </a:p>
        </p:txBody>
      </p:sp>
      <p:sp>
        <p:nvSpPr>
          <p:cNvPr id="73" name="Line 6"/>
          <p:cNvSpPr>
            <a:spLocks noChangeShapeType="1"/>
          </p:cNvSpPr>
          <p:nvPr/>
        </p:nvSpPr>
        <p:spPr bwMode="auto">
          <a:xfrm>
            <a:off x="2925484" y="6376511"/>
            <a:ext cx="309431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4" name="Rectangle 5"/>
          <p:cNvSpPr>
            <a:spLocks/>
          </p:cNvSpPr>
          <p:nvPr/>
        </p:nvSpPr>
        <p:spPr bwMode="auto">
          <a:xfrm>
            <a:off x="6351193" y="5350589"/>
            <a:ext cx="913070" cy="7181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E9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  D5</a:t>
            </a:r>
          </a:p>
        </p:txBody>
      </p:sp>
      <p:sp>
        <p:nvSpPr>
          <p:cNvPr id="75" name="Line 6"/>
          <p:cNvSpPr>
            <a:spLocks noChangeShapeType="1"/>
          </p:cNvSpPr>
          <p:nvPr/>
        </p:nvSpPr>
        <p:spPr bwMode="auto">
          <a:xfrm>
            <a:off x="6427393" y="6036389"/>
            <a:ext cx="73540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6" name="Rectangle 13"/>
          <p:cNvSpPr>
            <a:spLocks/>
          </p:cNvSpPr>
          <p:nvPr/>
        </p:nvSpPr>
        <p:spPr bwMode="auto">
          <a:xfrm>
            <a:off x="6351193" y="6007020"/>
            <a:ext cx="913070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C1DD</a:t>
            </a:r>
          </a:p>
        </p:txBody>
      </p:sp>
      <p:sp>
        <p:nvSpPr>
          <p:cNvPr id="77" name="Rectangle 13"/>
          <p:cNvSpPr>
            <a:spLocks/>
          </p:cNvSpPr>
          <p:nvPr/>
        </p:nvSpPr>
        <p:spPr bwMode="auto">
          <a:xfrm>
            <a:off x="6351193" y="6371431"/>
            <a:ext cx="913070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DD</a:t>
            </a:r>
          </a:p>
        </p:txBody>
      </p:sp>
      <p:sp>
        <p:nvSpPr>
          <p:cNvPr id="78" name="Line 6"/>
          <p:cNvSpPr>
            <a:spLocks noChangeShapeType="1"/>
          </p:cNvSpPr>
          <p:nvPr/>
        </p:nvSpPr>
        <p:spPr bwMode="auto">
          <a:xfrm>
            <a:off x="6427392" y="6376511"/>
            <a:ext cx="73540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9" name="Rectangle 5"/>
          <p:cNvSpPr>
            <a:spLocks/>
          </p:cNvSpPr>
          <p:nvPr/>
        </p:nvSpPr>
        <p:spPr bwMode="auto">
          <a:xfrm>
            <a:off x="7602937" y="5350589"/>
            <a:ext cx="1220847" cy="10259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223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   213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ourier New Bold" charset="0"/>
              <a:ea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80" name="Line 6"/>
          <p:cNvSpPr>
            <a:spLocks noChangeShapeType="1"/>
          </p:cNvSpPr>
          <p:nvPr/>
        </p:nvSpPr>
        <p:spPr bwMode="auto">
          <a:xfrm>
            <a:off x="7679136" y="6036389"/>
            <a:ext cx="1007663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81" name="Rectangle 13"/>
          <p:cNvSpPr>
            <a:spLocks/>
          </p:cNvSpPr>
          <p:nvPr/>
        </p:nvSpPr>
        <p:spPr bwMode="auto">
          <a:xfrm>
            <a:off x="7602937" y="6007020"/>
            <a:ext cx="1220847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47499</a:t>
            </a:r>
          </a:p>
        </p:txBody>
      </p:sp>
      <p:sp>
        <p:nvSpPr>
          <p:cNvPr id="82" name="Rectangle 13"/>
          <p:cNvSpPr>
            <a:spLocks/>
          </p:cNvSpPr>
          <p:nvPr/>
        </p:nvSpPr>
        <p:spPr bwMode="auto">
          <a:xfrm>
            <a:off x="7602937" y="6371431"/>
            <a:ext cx="1220847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221</a:t>
            </a:r>
          </a:p>
        </p:txBody>
      </p:sp>
      <p:sp>
        <p:nvSpPr>
          <p:cNvPr id="83" name="Line 6"/>
          <p:cNvSpPr>
            <a:spLocks noChangeShapeType="1"/>
          </p:cNvSpPr>
          <p:nvPr/>
        </p:nvSpPr>
        <p:spPr bwMode="auto">
          <a:xfrm>
            <a:off x="7679136" y="6376511"/>
            <a:ext cx="1007663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495800" y="5943600"/>
            <a:ext cx="1676400" cy="533400"/>
          </a:xfrm>
          <a:prstGeom prst="ellipse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0072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87375"/>
            <a:ext cx="7686675" cy="5556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Signed Multiplication in C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6550" y="3200400"/>
            <a:ext cx="5149850" cy="1643063"/>
          </a:xfrm>
        </p:spPr>
        <p:txBody>
          <a:bodyPr lIns="90487" tIns="44450" rIns="90487" bIns="44450"/>
          <a:lstStyle/>
          <a:p>
            <a:pPr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dirty="0"/>
              <a:t>Standard Multiplication Function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dirty="0"/>
              <a:t>Ignores high order </a:t>
            </a:r>
            <a:r>
              <a:rPr lang="en-US" b="0" i="1" dirty="0"/>
              <a:t>w</a:t>
            </a:r>
            <a:r>
              <a:rPr lang="en-US" dirty="0"/>
              <a:t> bits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i="1" dirty="0"/>
              <a:t>Some of which are different for signed vs. unsigned multiplication</a:t>
            </a:r>
          </a:p>
          <a:p>
            <a:pPr lvl="1" eaLnBrk="1" hangingPunct="1">
              <a:tabLst>
                <a:tab pos="1828800" algn="l"/>
                <a:tab pos="2286000" algn="l"/>
                <a:tab pos="3035300" algn="l"/>
                <a:tab pos="3429000" algn="l"/>
              </a:tabLst>
              <a:defRPr/>
            </a:pPr>
            <a:r>
              <a:rPr lang="en-US" dirty="0"/>
              <a:t>Lower bits are the same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72200" y="1219200"/>
            <a:ext cx="2743200" cy="228600"/>
            <a:chOff x="2976" y="816"/>
            <a:chExt cx="1728" cy="144"/>
          </a:xfrm>
        </p:grpSpPr>
        <p:sp>
          <p:nvSpPr>
            <p:cNvPr id="41007" name="Rectangle 5"/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8" name="Rectangle 6"/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9" name="Rectangle 7"/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10" name="Rectangle 8"/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11" name="Rectangle 9"/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12" name="Rectangle 10"/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13" name="Rectangle 11"/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72200" y="1676400"/>
            <a:ext cx="2743200" cy="228600"/>
            <a:chOff x="2976" y="1104"/>
            <a:chExt cx="1728" cy="144"/>
          </a:xfrm>
        </p:grpSpPr>
        <p:sp>
          <p:nvSpPr>
            <p:cNvPr id="41000" name="Rectangle 13"/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1" name="Rectangle 14"/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2" name="Rectangle 15"/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3" name="Rectangle 16"/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4" name="Rectangle 17"/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5" name="Rectangle 18"/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1006" name="Rectangle 19"/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40966" name="Rectangle 20"/>
          <p:cNvSpPr>
            <a:spLocks noChangeArrowheads="1"/>
          </p:cNvSpPr>
          <p:nvPr/>
        </p:nvSpPr>
        <p:spPr bwMode="auto">
          <a:xfrm>
            <a:off x="5562600" y="11430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u</a:t>
            </a:r>
          </a:p>
        </p:txBody>
      </p:sp>
      <p:sp>
        <p:nvSpPr>
          <p:cNvPr id="40967" name="Rectangle 21"/>
          <p:cNvSpPr>
            <a:spLocks noChangeArrowheads="1"/>
          </p:cNvSpPr>
          <p:nvPr/>
        </p:nvSpPr>
        <p:spPr bwMode="auto">
          <a:xfrm>
            <a:off x="5562600" y="16002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v</a:t>
            </a:r>
          </a:p>
        </p:txBody>
      </p:sp>
      <p:sp>
        <p:nvSpPr>
          <p:cNvPr id="40968" name="Line 22"/>
          <p:cNvSpPr>
            <a:spLocks noChangeShapeType="1"/>
          </p:cNvSpPr>
          <p:nvPr/>
        </p:nvSpPr>
        <p:spPr bwMode="auto">
          <a:xfrm>
            <a:off x="2743200" y="19812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 b="1"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0969" name="Rectangle 23"/>
          <p:cNvSpPr>
            <a:spLocks noChangeArrowheads="1"/>
          </p:cNvSpPr>
          <p:nvPr/>
        </p:nvSpPr>
        <p:spPr bwMode="auto">
          <a:xfrm>
            <a:off x="5181600" y="1600200"/>
            <a:ext cx="3206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400" b="1">
                <a:latin typeface="Arial Narrow" pitchFamily="34" charset="0"/>
                <a:ea typeface="+mn-ea"/>
                <a:cs typeface="+mn-cs"/>
              </a:rPr>
              <a:t>*</a:t>
            </a:r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172200" y="2133600"/>
            <a:ext cx="2743200" cy="228600"/>
            <a:chOff x="2976" y="1392"/>
            <a:chExt cx="1728" cy="144"/>
          </a:xfrm>
        </p:grpSpPr>
        <p:sp>
          <p:nvSpPr>
            <p:cNvPr id="40993" name="Rectangle 25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4" name="Rectangle 26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5" name="Rectangle 27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6" name="Rectangle 28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7" name="Rectangle 29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8" name="Rectangle 30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9" name="Rectangle 31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40971" name="Rectangle 32"/>
          <p:cNvSpPr>
            <a:spLocks noChangeArrowheads="1"/>
          </p:cNvSpPr>
          <p:nvPr/>
        </p:nvSpPr>
        <p:spPr bwMode="auto">
          <a:xfrm>
            <a:off x="2857500" y="1981200"/>
            <a:ext cx="571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2400" i="1">
                <a:latin typeface="Times" pitchFamily="18" charset="0"/>
                <a:ea typeface="+mn-ea"/>
                <a:cs typeface="+mn-cs"/>
              </a:rPr>
              <a:t>u </a:t>
            </a:r>
            <a:r>
              <a:rPr lang="en-US" sz="2400">
                <a:latin typeface="Times" pitchFamily="18" charset="0"/>
                <a:ea typeface="+mn-ea"/>
                <a:cs typeface="+mn-cs"/>
              </a:rPr>
              <a:t>· </a:t>
            </a:r>
            <a:r>
              <a:rPr lang="en-US" sz="2400" i="1">
                <a:latin typeface="Times" pitchFamily="18" charset="0"/>
                <a:ea typeface="+mn-ea"/>
                <a:cs typeface="+mn-cs"/>
              </a:rPr>
              <a:t>v</a:t>
            </a:r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6172200" y="2590800"/>
            <a:ext cx="2743200" cy="228600"/>
            <a:chOff x="2976" y="1392"/>
            <a:chExt cx="1728" cy="144"/>
          </a:xfrm>
        </p:grpSpPr>
        <p:sp>
          <p:nvSpPr>
            <p:cNvPr id="40986" name="Rectangle 34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7" name="Rectangle 35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8" name="Rectangle 36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9" name="Rectangle 37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0" name="Rectangle 38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1" name="Rectangle 39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92" name="Rectangle 40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40973" name="Line 41"/>
          <p:cNvSpPr>
            <a:spLocks noChangeShapeType="1"/>
          </p:cNvSpPr>
          <p:nvPr/>
        </p:nvSpPr>
        <p:spPr bwMode="auto">
          <a:xfrm flipV="1">
            <a:off x="2743200" y="2438400"/>
            <a:ext cx="632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 eaLnBrk="0" hangingPunct="0"/>
            <a:endParaRPr lang="en-US" sz="2400" b="1"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40974" name="Text Box 42"/>
          <p:cNvSpPr txBox="1">
            <a:spLocks noChangeArrowheads="1"/>
          </p:cNvSpPr>
          <p:nvPr/>
        </p:nvSpPr>
        <p:spPr bwMode="auto">
          <a:xfrm>
            <a:off x="228600" y="2057400"/>
            <a:ext cx="2586798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True Product: 2*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 bits</a:t>
            </a:r>
          </a:p>
        </p:txBody>
      </p:sp>
      <p:sp>
        <p:nvSpPr>
          <p:cNvPr id="40975" name="Text Box 43"/>
          <p:cNvSpPr txBox="1">
            <a:spLocks noChangeArrowheads="1"/>
          </p:cNvSpPr>
          <p:nvPr/>
        </p:nvSpPr>
        <p:spPr bwMode="auto">
          <a:xfrm>
            <a:off x="2286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Operands: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</a:t>
            </a:r>
          </a:p>
        </p:txBody>
      </p:sp>
      <p:sp>
        <p:nvSpPr>
          <p:cNvPr id="40976" name="Text Box 44"/>
          <p:cNvSpPr txBox="1">
            <a:spLocks noChangeArrowheads="1"/>
          </p:cNvSpPr>
          <p:nvPr/>
        </p:nvSpPr>
        <p:spPr bwMode="auto">
          <a:xfrm>
            <a:off x="228600" y="26670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2000" dirty="0">
                <a:latin typeface="Calibri" pitchFamily="34" charset="0"/>
                <a:ea typeface="+mn-ea"/>
                <a:cs typeface="+mn-cs"/>
              </a:rPr>
              <a:t>Discard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bits: </a:t>
            </a:r>
            <a:r>
              <a:rPr lang="en-US" sz="2000" i="1" dirty="0">
                <a:latin typeface="Calibri" pitchFamily="34" charset="0"/>
                <a:ea typeface="+mn-ea"/>
                <a:cs typeface="+mn-cs"/>
              </a:rPr>
              <a:t>w</a:t>
            </a:r>
            <a:r>
              <a:rPr lang="en-US" sz="2000" dirty="0">
                <a:latin typeface="Calibri" pitchFamily="34" charset="0"/>
                <a:ea typeface="+mn-ea"/>
                <a:cs typeface="+mn-cs"/>
              </a:rPr>
              <a:t> bits</a:t>
            </a:r>
          </a:p>
        </p:txBody>
      </p:sp>
      <p:sp>
        <p:nvSpPr>
          <p:cNvPr id="40977" name="Rectangle 45"/>
          <p:cNvSpPr>
            <a:spLocks noChangeArrowheads="1"/>
          </p:cNvSpPr>
          <p:nvPr/>
        </p:nvSpPr>
        <p:spPr bwMode="auto">
          <a:xfrm>
            <a:off x="4648200" y="2438400"/>
            <a:ext cx="14097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sz="2400" dirty="0" err="1">
                <a:latin typeface="Times" pitchFamily="18" charset="0"/>
                <a:ea typeface="+mn-ea"/>
                <a:cs typeface="+mn-cs"/>
              </a:rPr>
              <a:t>TMult</a:t>
            </a:r>
            <a:r>
              <a:rPr lang="en-US" sz="2400" i="1" baseline="-25000" dirty="0" err="1">
                <a:latin typeface="Times" pitchFamily="18" charset="0"/>
                <a:ea typeface="+mn-ea"/>
                <a:cs typeface="+mn-cs"/>
              </a:rPr>
              <a:t>w</a:t>
            </a:r>
            <a:r>
              <a:rPr lang="en-US" sz="2400" dirty="0">
                <a:latin typeface="Times" pitchFamily="18" charset="0"/>
                <a:ea typeface="+mn-ea"/>
                <a:cs typeface="+mn-cs"/>
              </a:rPr>
              <a:t>(</a:t>
            </a:r>
            <a:r>
              <a:rPr lang="en-US" sz="2400" i="1" dirty="0">
                <a:latin typeface="Times" pitchFamily="18" charset="0"/>
                <a:ea typeface="+mn-ea"/>
                <a:cs typeface="+mn-cs"/>
              </a:rPr>
              <a:t>u</a:t>
            </a:r>
            <a:r>
              <a:rPr lang="en-US" sz="2400" dirty="0">
                <a:latin typeface="Times" pitchFamily="18" charset="0"/>
                <a:ea typeface="+mn-ea"/>
                <a:cs typeface="+mn-cs"/>
              </a:rPr>
              <a:t> , </a:t>
            </a:r>
            <a:r>
              <a:rPr lang="en-US" sz="2400" i="1" dirty="0">
                <a:latin typeface="Times" pitchFamily="18" charset="0"/>
                <a:ea typeface="+mn-ea"/>
                <a:cs typeface="+mn-cs"/>
              </a:rPr>
              <a:t>v</a:t>
            </a:r>
            <a:r>
              <a:rPr lang="en-US" sz="2400" dirty="0">
                <a:latin typeface="Times" pitchFamily="18" charset="0"/>
                <a:ea typeface="+mn-ea"/>
                <a:cs typeface="+mn-cs"/>
              </a:rPr>
              <a:t>)</a:t>
            </a:r>
          </a:p>
        </p:txBody>
      </p: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429000" y="2133600"/>
            <a:ext cx="2743200" cy="228600"/>
            <a:chOff x="2976" y="1392"/>
            <a:chExt cx="1728" cy="144"/>
          </a:xfrm>
        </p:grpSpPr>
        <p:sp>
          <p:nvSpPr>
            <p:cNvPr id="40979" name="Rectangle 47"/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0" name="Rectangle 48"/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1" name="Rectangle 49"/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2" name="Rectangle 50"/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3" name="Rectangle 51"/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4" name="Rectangle 52"/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>
                <a:latin typeface="Arial Narrow" pitchFamily="34" charset="0"/>
                <a:ea typeface="+mn-ea"/>
                <a:cs typeface="+mn-cs"/>
              </a:endParaRPr>
            </a:p>
          </p:txBody>
        </p:sp>
        <p:sp>
          <p:nvSpPr>
            <p:cNvPr id="40985" name="Rectangle 53"/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r>
                <a:rPr lang="en-US" sz="2400">
                  <a:latin typeface="Arial Narrow" pitchFamily="34" charset="0"/>
                  <a:ea typeface="+mn-ea"/>
                  <a:cs typeface="+mn-cs"/>
                </a:rPr>
                <a:t>• • •</a:t>
              </a:r>
            </a:p>
          </p:txBody>
        </p:sp>
      </p:grpSp>
      <p:sp>
        <p:nvSpPr>
          <p:cNvPr id="64" name="Rectangle 5"/>
          <p:cNvSpPr>
            <a:spLocks/>
          </p:cNvSpPr>
          <p:nvPr/>
        </p:nvSpPr>
        <p:spPr bwMode="auto">
          <a:xfrm>
            <a:off x="7430830" y="5350589"/>
            <a:ext cx="1220847" cy="10259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-23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   -43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ourier New Bold" charset="0"/>
              <a:ea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5" name="Line 6"/>
          <p:cNvSpPr>
            <a:spLocks noChangeShapeType="1"/>
          </p:cNvSpPr>
          <p:nvPr/>
        </p:nvSpPr>
        <p:spPr bwMode="auto">
          <a:xfrm>
            <a:off x="7507030" y="6036389"/>
            <a:ext cx="106547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66" name="Rectangle 13"/>
          <p:cNvSpPr>
            <a:spLocks/>
          </p:cNvSpPr>
          <p:nvPr/>
        </p:nvSpPr>
        <p:spPr bwMode="auto">
          <a:xfrm>
            <a:off x="7430830" y="6007020"/>
            <a:ext cx="1221022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989</a:t>
            </a:r>
          </a:p>
        </p:txBody>
      </p:sp>
      <p:sp>
        <p:nvSpPr>
          <p:cNvPr id="67" name="Rectangle 13"/>
          <p:cNvSpPr>
            <a:spLocks/>
          </p:cNvSpPr>
          <p:nvPr/>
        </p:nvSpPr>
        <p:spPr bwMode="auto">
          <a:xfrm>
            <a:off x="7430830" y="6371431"/>
            <a:ext cx="1220847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-35</a:t>
            </a:r>
          </a:p>
        </p:txBody>
      </p:sp>
      <p:sp>
        <p:nvSpPr>
          <p:cNvPr id="68" name="Line 6"/>
          <p:cNvSpPr>
            <a:spLocks noChangeShapeType="1"/>
          </p:cNvSpPr>
          <p:nvPr/>
        </p:nvSpPr>
        <p:spPr bwMode="auto">
          <a:xfrm>
            <a:off x="7507030" y="6376511"/>
            <a:ext cx="106547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69" name="Rectangle 5"/>
          <p:cNvSpPr>
            <a:spLocks/>
          </p:cNvSpPr>
          <p:nvPr/>
        </p:nvSpPr>
        <p:spPr bwMode="auto">
          <a:xfrm>
            <a:off x="2895600" y="5350589"/>
            <a:ext cx="3221896" cy="10259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1111 1111</a:t>
            </a:r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1110 1001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</a:t>
            </a:r>
            <a:r>
              <a:rPr lang="en-US" sz="2000" i="1" dirty="0">
                <a:solidFill>
                  <a:srgbClr val="7F7F7F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1111 1111</a:t>
            </a:r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1101 0101</a:t>
            </a:r>
          </a:p>
          <a:p>
            <a:pPr algn="l"/>
            <a:endParaRPr lang="en-US" sz="2000" dirty="0">
              <a:solidFill>
                <a:srgbClr val="FFFFFF"/>
              </a:solidFill>
              <a:latin typeface="Courier New Bold" charset="0"/>
              <a:ea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0" name="Line 6"/>
          <p:cNvSpPr>
            <a:spLocks noChangeShapeType="1"/>
          </p:cNvSpPr>
          <p:nvPr/>
        </p:nvSpPr>
        <p:spPr bwMode="auto">
          <a:xfrm>
            <a:off x="2925483" y="6036389"/>
            <a:ext cx="309431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1" name="Rectangle 13"/>
          <p:cNvSpPr>
            <a:spLocks/>
          </p:cNvSpPr>
          <p:nvPr/>
        </p:nvSpPr>
        <p:spPr bwMode="auto">
          <a:xfrm>
            <a:off x="2895600" y="6007020"/>
            <a:ext cx="3221896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0000 0011 1101 1101</a:t>
            </a:r>
          </a:p>
        </p:txBody>
      </p:sp>
      <p:sp>
        <p:nvSpPr>
          <p:cNvPr id="72" name="Rectangle 13"/>
          <p:cNvSpPr>
            <a:spLocks/>
          </p:cNvSpPr>
          <p:nvPr/>
        </p:nvSpPr>
        <p:spPr bwMode="auto">
          <a:xfrm>
            <a:off x="2895600" y="6371431"/>
            <a:ext cx="3221395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        1101 1101</a:t>
            </a:r>
          </a:p>
        </p:txBody>
      </p:sp>
      <p:sp>
        <p:nvSpPr>
          <p:cNvPr id="73" name="Line 6"/>
          <p:cNvSpPr>
            <a:spLocks noChangeShapeType="1"/>
          </p:cNvSpPr>
          <p:nvPr/>
        </p:nvSpPr>
        <p:spPr bwMode="auto">
          <a:xfrm>
            <a:off x="2925484" y="6376511"/>
            <a:ext cx="309431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4" name="Rectangle 5"/>
          <p:cNvSpPr>
            <a:spLocks/>
          </p:cNvSpPr>
          <p:nvPr/>
        </p:nvSpPr>
        <p:spPr bwMode="auto">
          <a:xfrm>
            <a:off x="6351193" y="5350589"/>
            <a:ext cx="913070" cy="7181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E9</a:t>
            </a:r>
          </a:p>
          <a:p>
            <a:pPr algn="l"/>
            <a:r>
              <a:rPr lang="en-US" sz="2000" dirty="0">
                <a:solidFill>
                  <a:srgbClr val="000066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*  D5</a:t>
            </a:r>
          </a:p>
        </p:txBody>
      </p:sp>
      <p:sp>
        <p:nvSpPr>
          <p:cNvPr id="75" name="Line 6"/>
          <p:cNvSpPr>
            <a:spLocks noChangeShapeType="1"/>
          </p:cNvSpPr>
          <p:nvPr/>
        </p:nvSpPr>
        <p:spPr bwMode="auto">
          <a:xfrm>
            <a:off x="6427393" y="6036389"/>
            <a:ext cx="735406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6" name="Rectangle 13"/>
          <p:cNvSpPr>
            <a:spLocks/>
          </p:cNvSpPr>
          <p:nvPr/>
        </p:nvSpPr>
        <p:spPr bwMode="auto">
          <a:xfrm>
            <a:off x="6351193" y="6007020"/>
            <a:ext cx="913196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03DD</a:t>
            </a:r>
          </a:p>
        </p:txBody>
      </p:sp>
      <p:sp>
        <p:nvSpPr>
          <p:cNvPr id="77" name="Rectangle 13"/>
          <p:cNvSpPr>
            <a:spLocks/>
          </p:cNvSpPr>
          <p:nvPr/>
        </p:nvSpPr>
        <p:spPr bwMode="auto">
          <a:xfrm>
            <a:off x="6351193" y="6371431"/>
            <a:ext cx="913070" cy="41036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50800" tIns="50800" bIns="50800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solidFill>
                  <a:srgbClr val="CC0000"/>
                </a:solidFill>
                <a:latin typeface="Courier New Bold" charset="0"/>
                <a:ea typeface="Courier New Bold" charset="0"/>
                <a:cs typeface="Courier New Bold" charset="0"/>
                <a:sym typeface="Courier New Bold" charset="0"/>
              </a:rPr>
              <a:t>   DD</a:t>
            </a:r>
          </a:p>
        </p:txBody>
      </p:sp>
      <p:sp>
        <p:nvSpPr>
          <p:cNvPr id="78" name="Line 6"/>
          <p:cNvSpPr>
            <a:spLocks noChangeShapeType="1"/>
          </p:cNvSpPr>
          <p:nvPr/>
        </p:nvSpPr>
        <p:spPr bwMode="auto">
          <a:xfrm>
            <a:off x="6427392" y="6376511"/>
            <a:ext cx="73540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>
              <a:ea typeface="ヒラギノ角ゴ ProN W3" charset="-128"/>
              <a:cs typeface="ヒラギノ角ゴ ProN W3" charset="-128"/>
            </a:endParaRPr>
          </a:p>
        </p:txBody>
      </p:sp>
      <p:sp>
        <p:nvSpPr>
          <p:cNvPr id="79" name="Oval 78"/>
          <p:cNvSpPr/>
          <p:nvPr/>
        </p:nvSpPr>
        <p:spPr bwMode="auto">
          <a:xfrm>
            <a:off x="2819400" y="5943600"/>
            <a:ext cx="6096000" cy="533400"/>
          </a:xfrm>
          <a:prstGeom prst="ellipse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449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Floating Point</a:t>
            </a:r>
            <a:endParaRPr lang="en-US" dirty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/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/>
              <a:t>Summary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Fractional binary numbers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What is 1011.101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Group 1"/>
          <p:cNvGraphicFramePr>
            <a:graphicFrameLocks noGrp="1"/>
          </p:cNvGraphicFramePr>
          <p:nvPr/>
        </p:nvGraphicFramePr>
        <p:xfrm>
          <a:off x="4114800" y="1079500"/>
          <a:ext cx="584200" cy="2129801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15" name="Group 27"/>
          <p:cNvGraphicFramePr>
            <a:graphicFrameLocks noGrp="1"/>
          </p:cNvGraphicFramePr>
          <p:nvPr/>
        </p:nvGraphicFramePr>
        <p:xfrm>
          <a:off x="3581400" y="3733800"/>
          <a:ext cx="660400" cy="1727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3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005844"/>
              </p:ext>
            </p:extLst>
          </p:nvPr>
        </p:nvGraphicFramePr>
        <p:xfrm>
          <a:off x="901700" y="3187700"/>
          <a:ext cx="6527800" cy="5461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85" name="Rectangle 97"/>
          <p:cNvSpPr>
            <a:spLocks/>
          </p:cNvSpPr>
          <p:nvPr/>
        </p:nvSpPr>
        <p:spPr bwMode="auto">
          <a:xfrm rot="10800000">
            <a:off x="6205538" y="4057650"/>
            <a:ext cx="561975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86" name="Rectangle 98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6870700" cy="1558925"/>
          </a:xfrm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Fractional Binary Numbers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12387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372035" y="5461000"/>
            <a:ext cx="8472487" cy="1849437"/>
          </a:xfrm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 dirty="0">
                <a:ea typeface="Calibri" charset="0"/>
                <a:cs typeface="Calibri" charset="0"/>
              </a:rPr>
              <a:t>Representation</a:t>
            </a:r>
            <a:endParaRPr lang="en-US" dirty="0"/>
          </a:p>
          <a:p>
            <a:pPr lvl="1"/>
            <a:r>
              <a:rPr lang="en-US" dirty="0"/>
              <a:t>Bits to right of “binary point” represent fractional powers of 2</a:t>
            </a:r>
          </a:p>
          <a:p>
            <a:pPr lvl="1"/>
            <a:r>
              <a:rPr lang="en-US" dirty="0"/>
              <a:t>Represents rational number:</a:t>
            </a:r>
          </a:p>
        </p:txBody>
      </p:sp>
      <p:sp>
        <p:nvSpPr>
          <p:cNvPr id="12388" name="Freeform 100"/>
          <p:cNvSpPr>
            <a:spLocks/>
          </p:cNvSpPr>
          <p:nvPr/>
        </p:nvSpPr>
        <p:spPr bwMode="auto">
          <a:xfrm>
            <a:off x="4040188" y="3017838"/>
            <a:ext cx="1651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3600"/>
          </a:p>
        </p:txBody>
      </p:sp>
      <p:sp>
        <p:nvSpPr>
          <p:cNvPr id="12389" name="Freeform 101"/>
          <p:cNvSpPr>
            <a:spLocks/>
          </p:cNvSpPr>
          <p:nvPr/>
        </p:nvSpPr>
        <p:spPr bwMode="auto">
          <a:xfrm>
            <a:off x="3505200" y="2586038"/>
            <a:ext cx="698500" cy="53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0" name="Freeform 102"/>
          <p:cNvSpPr>
            <a:spLocks/>
          </p:cNvSpPr>
          <p:nvPr/>
        </p:nvSpPr>
        <p:spPr bwMode="auto">
          <a:xfrm>
            <a:off x="2955925" y="2344738"/>
            <a:ext cx="12446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1" name="Freeform 103"/>
          <p:cNvSpPr>
            <a:spLocks/>
          </p:cNvSpPr>
          <p:nvPr/>
        </p:nvSpPr>
        <p:spPr bwMode="auto">
          <a:xfrm>
            <a:off x="1778000" y="1671638"/>
            <a:ext cx="2425700" cy="14478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2" name="Freeform 104"/>
          <p:cNvSpPr>
            <a:spLocks/>
          </p:cNvSpPr>
          <p:nvPr/>
        </p:nvSpPr>
        <p:spPr bwMode="auto">
          <a:xfrm>
            <a:off x="1028700" y="1316038"/>
            <a:ext cx="3175000" cy="180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3" name="Rectangle 105"/>
          <p:cNvSpPr>
            <a:spLocks/>
          </p:cNvSpPr>
          <p:nvPr/>
        </p:nvSpPr>
        <p:spPr bwMode="auto">
          <a:xfrm>
            <a:off x="2111375" y="2420938"/>
            <a:ext cx="560388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94" name="Freeform 106"/>
          <p:cNvSpPr>
            <a:spLocks/>
          </p:cNvSpPr>
          <p:nvPr/>
        </p:nvSpPr>
        <p:spPr bwMode="auto">
          <a:xfrm rot="10800000">
            <a:off x="4298950" y="3778250"/>
            <a:ext cx="3429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5" name="Freeform 107"/>
          <p:cNvSpPr>
            <a:spLocks/>
          </p:cNvSpPr>
          <p:nvPr/>
        </p:nvSpPr>
        <p:spPr bwMode="auto">
          <a:xfrm rot="10800000">
            <a:off x="4286250" y="3778250"/>
            <a:ext cx="977900" cy="393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6" name="Freeform 108"/>
          <p:cNvSpPr>
            <a:spLocks/>
          </p:cNvSpPr>
          <p:nvPr/>
        </p:nvSpPr>
        <p:spPr bwMode="auto">
          <a:xfrm rot="10800000">
            <a:off x="4284663" y="3790950"/>
            <a:ext cx="15748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7" name="Freeform 109"/>
          <p:cNvSpPr>
            <a:spLocks/>
          </p:cNvSpPr>
          <p:nvPr/>
        </p:nvSpPr>
        <p:spPr bwMode="auto">
          <a:xfrm rot="10800000">
            <a:off x="4275138" y="3752850"/>
            <a:ext cx="2717800" cy="137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8" name="Oval 110"/>
          <p:cNvSpPr>
            <a:spLocks/>
          </p:cNvSpPr>
          <p:nvPr/>
        </p:nvSpPr>
        <p:spPr bwMode="auto">
          <a:xfrm>
            <a:off x="4341751" y="3629726"/>
            <a:ext cx="165100" cy="165100"/>
          </a:xfrm>
          <a:prstGeom prst="ellipse">
            <a:avLst/>
          </a:prstGeom>
          <a:solidFill>
            <a:srgbClr val="0000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2399" name="Picture 1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1181" y="5216526"/>
            <a:ext cx="1320800" cy="7810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Fractional Binary Numbers: Examples</a:t>
            </a:r>
          </a:p>
        </p:txBody>
      </p:sp>
      <p:sp>
        <p:nvSpPr>
          <p:cNvPr id="15367" name="Rectangle 7"/>
          <p:cNvSpPr>
            <a:spLocks/>
          </p:cNvSpPr>
          <p:nvPr/>
        </p:nvSpPr>
        <p:spPr bwMode="auto">
          <a:xfrm>
            <a:off x="381000" y="1397000"/>
            <a:ext cx="8382000" cy="52324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54000" indent="-254000" algn="l">
              <a:spcBef>
                <a:spcPts val="575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1031875" algn="l"/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Value		Representation</a:t>
            </a:r>
          </a:p>
          <a:p>
            <a:pPr marL="254000" indent="-254000" algn="l">
              <a:spcBef>
                <a:spcPts val="600"/>
              </a:spcBef>
              <a:tabLst>
                <a:tab pos="1031875" algn="l"/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5 3/4 	= 23/4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101.11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	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= 4 + 1 + 1/2  + 1/4</a:t>
            </a:r>
            <a:endParaRPr lang="en-US" sz="2000" dirty="0">
              <a:solidFill>
                <a:schemeClr val="tx1"/>
              </a:solidFill>
              <a:latin typeface="Calibri"/>
              <a:ea typeface="Monaco" charset="0"/>
              <a:cs typeface="Calibri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1031875" algn="l"/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2 7/8 	= 23/8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10.111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	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= 2 + 1/2  + 1/4 + 1/8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1031875" algn="l"/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1 7/16	= 23/16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1.0111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= 1 + 1/4 + 1/8 + 1/16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4100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Observations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Divide by 2 by shifting right (unsigned)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Multiply by 2 by shifting left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Numbers of form 0.111111…</a:t>
            </a:r>
            <a:r>
              <a:rPr lang="en-US" sz="2000" baseline="-6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are just below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1/2 + 1/4 + 1/8 + … + 1/2</a:t>
            </a:r>
            <a:r>
              <a:rPr lang="en-US" sz="2000" baseline="3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 + … ➙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Use notation 1.0 – ε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Representable Numbers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Limitation #1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Can only exactly represent numbers of the form x/2</a:t>
            </a:r>
            <a:r>
              <a:rPr lang="en-US" baseline="32000" dirty="0"/>
              <a:t>k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Other rational numbers have repeating bit representations</a:t>
            </a:r>
          </a:p>
          <a:p>
            <a:pPr lvl="4">
              <a:tabLst>
                <a:tab pos="1828800" algn="l"/>
              </a:tabLst>
            </a:pPr>
            <a:endParaRPr lang="en-US" sz="200" dirty="0"/>
          </a:p>
          <a:p>
            <a:pPr lvl="1">
              <a:tabLst>
                <a:tab pos="1828800" algn="l"/>
              </a:tabLst>
            </a:pPr>
            <a:r>
              <a:rPr lang="en-US" dirty="0"/>
              <a:t>Value	Representation</a:t>
            </a: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1/3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0.0101010101[01]…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1/5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1/10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baseline="-6000" dirty="0">
              <a:latin typeface="Courier New"/>
              <a:cs typeface="Courier New"/>
              <a:sym typeface="Monaco" charset="0"/>
            </a:endParaRP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Limitation #2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Just one setting of binary point within the </a:t>
            </a:r>
            <a:r>
              <a:rPr lang="en-US" i="1" dirty="0"/>
              <a:t>w </a:t>
            </a:r>
            <a:r>
              <a:rPr lang="en-US" dirty="0"/>
              <a:t>bits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Limited range of numbers (very small values?  very large?)</a:t>
            </a:r>
            <a:endParaRPr lang="en-US" dirty="0">
              <a:latin typeface="Monaco" charset="0"/>
              <a:sym typeface="Monaco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IEEE Floating Point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IEEE Standard 754</a:t>
            </a:r>
          </a:p>
          <a:p>
            <a:pPr marL="552450" lvl="1"/>
            <a:r>
              <a:rPr lang="en-US" dirty="0"/>
              <a:t>Established in 1985 as uniform standard for floating point arithmetic</a:t>
            </a:r>
          </a:p>
          <a:p>
            <a:pPr marL="838200" lvl="2"/>
            <a:r>
              <a:rPr lang="en-US" dirty="0"/>
              <a:t>Before that, many idiosyncratic formats</a:t>
            </a:r>
          </a:p>
          <a:p>
            <a:pPr marL="552450" lvl="1"/>
            <a:r>
              <a:rPr lang="en-US" dirty="0"/>
              <a:t>Supported by all major CPUs</a:t>
            </a:r>
          </a:p>
          <a:p>
            <a:pPr marL="552450" lvl="1"/>
            <a:r>
              <a:rPr lang="en-US" dirty="0"/>
              <a:t>Some CPUs don’t implement IEEE 754 in full</a:t>
            </a:r>
            <a:br>
              <a:rPr lang="en-US" dirty="0"/>
            </a:br>
            <a:r>
              <a:rPr lang="en-US" dirty="0"/>
              <a:t>e.g., early GPUs</a:t>
            </a:r>
          </a:p>
          <a:p>
            <a:r>
              <a:rPr lang="en-US" dirty="0"/>
              <a:t>Driven by numerical concerns</a:t>
            </a:r>
          </a:p>
          <a:p>
            <a:pPr marL="552450" lvl="1"/>
            <a:r>
              <a:rPr lang="en-US" dirty="0"/>
              <a:t>Nice standards for rounding, overflow, underflow</a:t>
            </a:r>
          </a:p>
          <a:p>
            <a:pPr marL="552450" lvl="1"/>
            <a:r>
              <a:rPr lang="en-US" dirty="0"/>
              <a:t>Hard to make fast in hardware</a:t>
            </a:r>
          </a:p>
          <a:p>
            <a:pPr marL="838200" lvl="2"/>
            <a:r>
              <a:rPr lang="en-US" dirty="0"/>
              <a:t>Numerical analysts predominated over hardware designers in defining standard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Numerical Form: </a:t>
            </a:r>
            <a:br>
              <a:rPr lang="en-US" dirty="0"/>
            </a:br>
            <a:r>
              <a:rPr lang="en-US" dirty="0"/>
              <a:t>			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 bit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dirty="0"/>
              <a:t> determines whether number is negative or positive</a:t>
            </a:r>
          </a:p>
          <a:p>
            <a:pPr marL="552450" lvl="1"/>
            <a:r>
              <a:rPr lang="en-US" dirty="0" err="1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Significand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normally a fractional value in range [1.0,2.0).</a:t>
            </a:r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Exponent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weights value by power of two</a:t>
            </a:r>
          </a:p>
          <a:p>
            <a:endParaRPr lang="en-US" dirty="0"/>
          </a:p>
          <a:p>
            <a:r>
              <a:rPr lang="en-US" dirty="0"/>
              <a:t>Encoding</a:t>
            </a:r>
          </a:p>
          <a:p>
            <a:pPr marL="552450" lvl="1"/>
            <a:r>
              <a:rPr lang="en-US" dirty="0"/>
              <a:t>MSB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s</a:t>
            </a:r>
            <a:r>
              <a:rPr lang="en-US" dirty="0"/>
              <a:t> is sign bit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endParaRPr lang="en-US" dirty="0"/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exp</a:t>
            </a:r>
            <a:r>
              <a:rPr lang="en-US" dirty="0">
                <a:latin typeface="+mn-lt"/>
              </a:rPr>
              <a:t> </a:t>
            </a:r>
            <a:r>
              <a:rPr lang="en-US" dirty="0"/>
              <a:t>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(but is not equal to E)</a:t>
            </a:r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frac</a:t>
            </a:r>
            <a:r>
              <a:rPr lang="en-US" dirty="0"/>
              <a:t> 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(but is not equal to M)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Representation</a:t>
            </a:r>
          </a:p>
        </p:txBody>
      </p:sp>
      <p:graphicFrame>
        <p:nvGraphicFramePr>
          <p:cNvPr id="1946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37174"/>
              </p:ext>
            </p:extLst>
          </p:nvPr>
        </p:nvGraphicFramePr>
        <p:xfrm>
          <a:off x="711200" y="5689600"/>
          <a:ext cx="7366000" cy="508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800600" y="1143000"/>
            <a:ext cx="4114800" cy="5909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lvl="1" algn="l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>
                <a:latin typeface="+mj-lt"/>
              </a:rPr>
              <a:t>Example: 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15213</a:t>
            </a:r>
            <a:r>
              <a:rPr lang="en-US" sz="1800" baseline="-25000" dirty="0">
                <a:latin typeface="+mj-lt"/>
              </a:rPr>
              <a:t>10</a:t>
            </a:r>
            <a:r>
              <a:rPr lang="en-US" sz="1800" dirty="0">
                <a:latin typeface="+mj-lt"/>
              </a:rPr>
              <a:t>  = (-1)</a:t>
            </a:r>
            <a:r>
              <a:rPr lang="en-US" sz="1800" baseline="30000" dirty="0">
                <a:latin typeface="+mj-lt"/>
              </a:rPr>
              <a:t>0</a:t>
            </a:r>
            <a:r>
              <a:rPr lang="en-US" sz="1800" dirty="0"/>
              <a:t> x </a:t>
            </a:r>
            <a:r>
              <a:rPr lang="en-US" sz="1800" dirty="0">
                <a:latin typeface="+mj-lt"/>
              </a:rPr>
              <a:t>1.1101101101101</a:t>
            </a:r>
            <a:r>
              <a:rPr lang="en-US" sz="1800" baseline="-25000" dirty="0">
                <a:latin typeface="+mj-lt"/>
              </a:rPr>
              <a:t>2</a:t>
            </a:r>
            <a:r>
              <a:rPr lang="en-US" sz="1800" dirty="0">
                <a:latin typeface="+mj-lt"/>
              </a:rPr>
              <a:t> x 2</a:t>
            </a:r>
            <a:r>
              <a:rPr lang="en-US" sz="1800" baseline="30000" dirty="0">
                <a:latin typeface="+mj-lt"/>
              </a:rPr>
              <a:t>13</a:t>
            </a:r>
            <a:endParaRPr lang="en-US" sz="18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Precision options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Single precision: 32 bits</a:t>
            </a:r>
            <a:br>
              <a:rPr lang="en-US" dirty="0"/>
            </a:br>
            <a:r>
              <a:rPr lang="en-US" dirty="0">
                <a:latin typeface="Calibri" panose="020F0502020204030204" pitchFamily="34" charset="0"/>
                <a:sym typeface="Symbol"/>
              </a:rPr>
              <a:t> </a:t>
            </a:r>
            <a:r>
              <a:rPr lang="en-US" dirty="0">
                <a:latin typeface="Calibri" panose="020F0502020204030204" pitchFamily="34" charset="0"/>
              </a:rPr>
              <a:t>7 decimal digits, 10</a:t>
            </a:r>
            <a:r>
              <a:rPr lang="en-US" baseline="30000" dirty="0">
                <a:latin typeface="Calibri" panose="020F0502020204030204" pitchFamily="34" charset="0"/>
              </a:rPr>
              <a:t>±38</a:t>
            </a:r>
          </a:p>
          <a:p>
            <a:pPr>
              <a:spcBef>
                <a:spcPts val="10000"/>
              </a:spcBef>
            </a:pPr>
            <a:r>
              <a:rPr lang="en-US" dirty="0"/>
              <a:t>Double precision: 64 bits</a:t>
            </a:r>
            <a:br>
              <a:rPr lang="en-US" dirty="0"/>
            </a:br>
            <a:r>
              <a:rPr lang="en-US" dirty="0">
                <a:latin typeface="Calibri" panose="020F0502020204030204" pitchFamily="34" charset="0"/>
                <a:sym typeface="Symbol"/>
              </a:rPr>
              <a:t> </a:t>
            </a:r>
            <a:r>
              <a:rPr lang="en-US" dirty="0">
                <a:latin typeface="Calibri" panose="020F0502020204030204" pitchFamily="34" charset="0"/>
              </a:rPr>
              <a:t>16 decimal digits, 10</a:t>
            </a:r>
            <a:r>
              <a:rPr lang="en-US" baseline="30000" dirty="0">
                <a:latin typeface="Calibri" panose="020F0502020204030204" pitchFamily="34" charset="0"/>
              </a:rPr>
              <a:t>±308</a:t>
            </a:r>
          </a:p>
          <a:p>
            <a:pPr>
              <a:spcBef>
                <a:spcPts val="10000"/>
              </a:spcBef>
            </a:pPr>
            <a:r>
              <a:rPr lang="en-US" dirty="0"/>
              <a:t>Other formats: half precision, quad precision </a:t>
            </a:r>
          </a:p>
        </p:txBody>
      </p:sp>
      <p:graphicFrame>
        <p:nvGraphicFramePr>
          <p:cNvPr id="2048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279834"/>
              </p:ext>
            </p:extLst>
          </p:nvPr>
        </p:nvGraphicFramePr>
        <p:xfrm>
          <a:off x="876300" y="23368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09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208328"/>
              </p:ext>
            </p:extLst>
          </p:nvPr>
        </p:nvGraphicFramePr>
        <p:xfrm>
          <a:off x="876300" y="43180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“Normalized” Values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When: exp ≠ 000…0 and exp ≠ 111…1</a:t>
            </a:r>
          </a:p>
          <a:p>
            <a:endParaRPr lang="en-US" dirty="0"/>
          </a:p>
          <a:p>
            <a:r>
              <a:rPr lang="en-US" dirty="0"/>
              <a:t>Exponent coded as a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biased</a:t>
            </a:r>
            <a:r>
              <a:rPr lang="en-US" dirty="0"/>
              <a:t>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Exp</a:t>
            </a:r>
            <a:r>
              <a:rPr lang="en-US" dirty="0"/>
              <a:t>: unsigned value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exp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r>
              <a:rPr lang="en-US" dirty="0">
                <a:latin typeface="Calibri"/>
                <a:cs typeface="Calibri"/>
              </a:rPr>
              <a:t> 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dirty="0"/>
              <a:t> = 2</a:t>
            </a:r>
            <a:r>
              <a:rPr lang="en-US" baseline="32000" dirty="0"/>
              <a:t>k-1</a:t>
            </a:r>
            <a:r>
              <a:rPr lang="en-US" dirty="0"/>
              <a:t> - 1, where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is number of exponent bits</a:t>
            </a:r>
          </a:p>
          <a:p>
            <a:pPr marL="838200" lvl="2"/>
            <a:r>
              <a:rPr lang="en-US" dirty="0"/>
              <a:t>Single precision: 127 (Exp: 1…254, E: -126…127)</a:t>
            </a:r>
          </a:p>
          <a:p>
            <a:pPr marL="838200" lvl="2"/>
            <a:r>
              <a:rPr lang="en-US" dirty="0"/>
              <a:t>Double precision: 1023 (Exp: 1…2046, E: -1022…1023)</a:t>
            </a:r>
          </a:p>
          <a:p>
            <a:endParaRPr lang="en-US" dirty="0"/>
          </a:p>
          <a:p>
            <a:r>
              <a:rPr lang="en-US" dirty="0" err="1"/>
              <a:t>Significand</a:t>
            </a:r>
            <a:r>
              <a:rPr lang="en-US" dirty="0"/>
              <a:t> coded with implied leading 1: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= 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1.xxx…x</a:t>
            </a:r>
            <a:r>
              <a:rPr lang="en-US" baseline="-6000" dirty="0">
                <a:latin typeface="Calibri"/>
                <a:ea typeface="Monaco" charset="0"/>
                <a:cs typeface="Calibri"/>
                <a:sym typeface="Monaco" charset="0"/>
              </a:rPr>
              <a:t>2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 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xxx…x</a:t>
            </a:r>
            <a:r>
              <a:rPr lang="en-US" dirty="0">
                <a:latin typeface="Calibri"/>
                <a:cs typeface="Calibri"/>
              </a:rPr>
              <a:t>: bits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Minimum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=000…0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1.0)</a:t>
            </a:r>
          </a:p>
          <a:p>
            <a:pPr marL="552450" lvl="1"/>
            <a:r>
              <a:rPr lang="en-US" dirty="0">
                <a:latin typeface="Calibri"/>
                <a:cs typeface="Calibri"/>
              </a:rPr>
              <a:t>Maximum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=111…1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2.0 – ε)</a:t>
            </a:r>
          </a:p>
          <a:p>
            <a:pPr marL="552450" lvl="1"/>
            <a:r>
              <a:rPr lang="en-US" dirty="0"/>
              <a:t>Get extra leading bit for “free”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0" y="533400"/>
            <a:ext cx="194416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93270" y="5816600"/>
            <a:ext cx="355600" cy="355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51965" y="5816600"/>
            <a:ext cx="1779495" cy="355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48000" y="5816600"/>
            <a:ext cx="506655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8733" y="552978"/>
            <a:ext cx="7366000" cy="573088"/>
          </a:xfrm>
        </p:spPr>
        <p:txBody>
          <a:bodyPr/>
          <a:lstStyle/>
          <a:p>
            <a:r>
              <a:rPr lang="en-US" dirty="0"/>
              <a:t>Normalized Encoding Example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55000" cy="5029200"/>
          </a:xfrm>
        </p:spPr>
        <p:txBody>
          <a:bodyPr/>
          <a:lstStyle/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Value: </a:t>
            </a:r>
            <a:r>
              <a:rPr lang="en-US" sz="1800" dirty="0">
                <a:latin typeface="Courier New"/>
                <a:cs typeface="Courier New"/>
              </a:rPr>
              <a:t>float F = 15213.0;</a:t>
            </a:r>
          </a:p>
          <a:p>
            <a:pPr marL="560388" lvl="1" indent="-222250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dirty="0"/>
              <a:t>15213</a:t>
            </a:r>
            <a:r>
              <a:rPr lang="en-US" sz="1800" b="0" baseline="-25000" dirty="0"/>
              <a:t>10</a:t>
            </a:r>
            <a:r>
              <a:rPr lang="en-US" sz="1800" b="0" dirty="0"/>
              <a:t>  = 11101101101101</a:t>
            </a:r>
            <a:r>
              <a:rPr lang="en-US" sz="1800" b="0" baseline="-25000" dirty="0"/>
              <a:t>2  </a:t>
            </a:r>
            <a:r>
              <a:rPr lang="en-US" sz="1800" b="0" dirty="0"/>
              <a:t> </a:t>
            </a:r>
          </a:p>
          <a:p>
            <a:pPr marL="560388" lvl="1" indent="-222250" defTabSz="895350">
              <a:lnSpc>
                <a:spcPct val="90000"/>
              </a:lnSpc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/>
              <a:t>                     </a:t>
            </a:r>
            <a:r>
              <a:rPr lang="en-US" sz="1800" b="0" dirty="0"/>
              <a:t>= 1.1101101101101</a:t>
            </a:r>
            <a:r>
              <a:rPr lang="en-US" sz="1800" b="0" baseline="-25000" dirty="0"/>
              <a:t>2</a:t>
            </a:r>
            <a:r>
              <a:rPr lang="en-US" sz="1800" b="0" dirty="0"/>
              <a:t> x 2</a:t>
            </a:r>
            <a:r>
              <a:rPr lang="en-US" sz="1800" b="0" baseline="30000" dirty="0"/>
              <a:t>13</a:t>
            </a:r>
            <a:endParaRPr lang="en-US" sz="1800" b="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err="1"/>
              <a:t>Significand</a:t>
            </a:r>
            <a:endParaRPr lang="en-US" sz="2000" dirty="0"/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M</a:t>
            </a:r>
            <a:r>
              <a:rPr lang="en-US" sz="1800" dirty="0"/>
              <a:t> 	= 	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en-US" sz="1800" b="1" u="sng" dirty="0">
                <a:latin typeface="Courier New" pitchFamily="49" charset="0"/>
                <a:cs typeface="Courier New" pitchFamily="49" charset="0"/>
              </a:rPr>
              <a:t>1101101101101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1" dirty="0" err="1">
                <a:latin typeface="Courier New" pitchFamily="49" charset="0"/>
              </a:rPr>
              <a:t>frac</a:t>
            </a:r>
            <a:r>
              <a:rPr lang="en-US" sz="1800" b="1" dirty="0">
                <a:latin typeface="Courier New" pitchFamily="49" charset="0"/>
              </a:rPr>
              <a:t>	= 	  </a:t>
            </a:r>
            <a:r>
              <a:rPr lang="en-US" sz="1800" b="1" u="sng" dirty="0">
                <a:latin typeface="Courier New" pitchFamily="49" charset="0"/>
              </a:rPr>
              <a:t>1101101101101</a:t>
            </a:r>
            <a:r>
              <a:rPr lang="en-US" sz="1800" b="1" dirty="0">
                <a:latin typeface="Courier New" pitchFamily="49" charset="0"/>
              </a:rPr>
              <a:t>0000000000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  <a:endParaRPr lang="en-US" sz="1800" b="1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Exponent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	</a:t>
            </a:r>
            <a:r>
              <a:rPr lang="en-US" sz="1800" dirty="0"/>
              <a:t> 	= 	13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Bias</a:t>
            </a:r>
            <a:r>
              <a:rPr lang="en-US" sz="1800" dirty="0"/>
              <a:t> 	= 	127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Exp</a:t>
            </a:r>
            <a:r>
              <a:rPr lang="en-US" sz="1800" dirty="0"/>
              <a:t> 	= 	140 	=	</a:t>
            </a:r>
            <a:r>
              <a:rPr lang="en-US" sz="1800" b="1" dirty="0">
                <a:latin typeface="Courier New" pitchFamily="49" charset="0"/>
              </a:rPr>
              <a:t>10001100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b="1" baseline="-25000" dirty="0">
              <a:latin typeface="Courier New" pitchFamily="49" charset="0"/>
            </a:endParaRPr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Result:</a:t>
            </a:r>
            <a:br>
              <a:rPr lang="en-US" sz="2000" dirty="0"/>
            </a:br>
            <a:br>
              <a:rPr lang="en-US" sz="2000" dirty="0"/>
            </a:br>
            <a:r>
              <a:rPr lang="en-US" sz="2800" dirty="0">
                <a:latin typeface="Courier New" pitchFamily="49" charset="0"/>
              </a:rPr>
              <a:t>0 10001100 11011011011010000000000 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85625" y="61722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3971" y="6172200"/>
            <a:ext cx="7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8452" y="6172200"/>
            <a:ext cx="92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frac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Denormalized</a:t>
            </a:r>
            <a:r>
              <a:rPr lang="en-US" dirty="0"/>
              <a:t> Values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Exponent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1 – Bias (instead of 0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dirty="0"/>
              <a:t>)</a:t>
            </a:r>
          </a:p>
          <a:p>
            <a:r>
              <a:rPr lang="en-US" dirty="0" err="1"/>
              <a:t>Significand</a:t>
            </a:r>
            <a:r>
              <a:rPr lang="en-US" dirty="0"/>
              <a:t> coded with implied leading 0: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= 0.xxx…x</a:t>
            </a:r>
            <a:r>
              <a:rPr lang="en-US" baseline="-6000" dirty="0"/>
              <a:t>2</a:t>
            </a:r>
            <a:endParaRPr lang="en-US" dirty="0"/>
          </a:p>
          <a:p>
            <a:pPr marL="552450" lvl="1"/>
            <a:r>
              <a:rPr lang="en-US" sz="1800" dirty="0">
                <a:latin typeface="Courier New Bold" charset="0"/>
                <a:cs typeface="Courier New Bold" charset="0"/>
                <a:sym typeface="Courier New Bold" charset="0"/>
              </a:rPr>
              <a:t>xxx…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: bits of 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/>
          </a:p>
          <a:p>
            <a:r>
              <a:rPr lang="en-US" dirty="0"/>
              <a:t>Cases</a:t>
            </a:r>
          </a:p>
          <a:p>
            <a:pPr marL="552450" lvl="1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Represents zero value</a:t>
            </a:r>
          </a:p>
          <a:p>
            <a:pPr marL="838200" lvl="2"/>
            <a:r>
              <a:rPr lang="en-US" dirty="0"/>
              <a:t>Note distinct values: +0 and –0 (why?)</a:t>
            </a:r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Numbers closest to 0.0</a:t>
            </a:r>
          </a:p>
          <a:p>
            <a:pPr marL="838200" lvl="2"/>
            <a:r>
              <a:rPr lang="en-US" dirty="0" err="1"/>
              <a:t>Equispaced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38851" y="540603"/>
            <a:ext cx="197106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Values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b="1" dirty="0">
                <a:solidFill>
                  <a:srgbClr val="C00000"/>
                </a:solidFill>
              </a:rPr>
              <a:t>Represents value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</a:t>
            </a:r>
            <a:r>
              <a:rPr lang="en-US" b="1" dirty="0">
                <a:solidFill>
                  <a:srgbClr val="C00000"/>
                </a:solidFill>
              </a:rPr>
              <a:t> (infinity)</a:t>
            </a:r>
          </a:p>
          <a:p>
            <a:pPr marL="552450" lvl="1"/>
            <a:r>
              <a:rPr lang="en-US" dirty="0"/>
              <a:t>Operation that overflows</a:t>
            </a:r>
          </a:p>
          <a:p>
            <a:pPr marL="552450" lvl="1"/>
            <a:r>
              <a:rPr lang="en-US" dirty="0"/>
              <a:t>Both positive and negative</a:t>
            </a:r>
          </a:p>
          <a:p>
            <a:pPr marL="552450" lvl="1"/>
            <a:r>
              <a:rPr lang="en-US" dirty="0"/>
              <a:t>E.g., 1.0/0.0 = −1.0/−0.0 = 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,  1.0/−0.0 = −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b="1" dirty="0">
                <a:solidFill>
                  <a:srgbClr val="C00000"/>
                </a:solidFill>
              </a:rPr>
              <a:t>Not-a-Number (</a:t>
            </a:r>
            <a:r>
              <a:rPr lang="en-US" b="1" dirty="0" err="1">
                <a:solidFill>
                  <a:srgbClr val="C00000"/>
                </a:solidFill>
              </a:rPr>
              <a:t>NaN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  <a:p>
            <a:pPr marL="552450" lvl="1"/>
            <a:r>
              <a:rPr lang="en-US" dirty="0"/>
              <a:t>Represents case when no numeric value can be determined</a:t>
            </a:r>
          </a:p>
          <a:p>
            <a:pPr marL="552450" lvl="1"/>
            <a:r>
              <a:rPr lang="en-US" dirty="0">
                <a:ea typeface="Apple Symbols" charset="0"/>
                <a:cs typeface="Apple Symbols" charset="0"/>
              </a:rPr>
              <a:t>E.g., </a:t>
            </a:r>
            <a:r>
              <a:rPr lang="en-US" dirty="0" err="1">
                <a:ea typeface="Apple Symbols" charset="0"/>
                <a:cs typeface="Apple Symbols" charset="0"/>
              </a:rPr>
              <a:t>sqrt</a:t>
            </a:r>
            <a:r>
              <a:rPr lang="en-US" dirty="0">
                <a:ea typeface="Apple Symbols" charset="0"/>
                <a:cs typeface="Apple Symbols" charset="0"/>
              </a:rPr>
              <a:t>(–1),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 −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,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 </a:t>
            </a:r>
            <a:r>
              <a:rPr lang="en-US" dirty="0">
                <a:ea typeface="Apple Symbols" charset="0"/>
                <a:cs typeface="Apple Symbols" charset="0"/>
                <a:sym typeface="Symbol"/>
              </a:rPr>
              <a:t></a:t>
            </a:r>
            <a:r>
              <a:rPr lang="en-US" dirty="0">
                <a:ea typeface="Apple Symbols" charset="0"/>
                <a:cs typeface="Apple Symbols" charset="0"/>
              </a:rPr>
              <a:t> 0</a:t>
            </a:r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81000" y="5638800"/>
            <a:ext cx="5029200" cy="533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 float Decoding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224385"/>
            <a:ext cx="2793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float: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0xC0A00000</a:t>
            </a:r>
            <a:endParaRPr lang="en-US" sz="24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8288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binary:</a:t>
            </a:r>
            <a:endParaRPr lang="en-US" sz="2400" b="1" dirty="0">
              <a:latin typeface="+mj-lt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110466"/>
              </p:ext>
            </p:extLst>
          </p:nvPr>
        </p:nvGraphicFramePr>
        <p:xfrm>
          <a:off x="1447800" y="2438400"/>
          <a:ext cx="6781800" cy="1016000"/>
        </p:xfrm>
        <a:graphic>
          <a:graphicData uri="http://schemas.openxmlformats.org/drawingml/2006/table">
            <a:tbl>
              <a:tblPr/>
              <a:tblGrid>
                <a:gridCol w="34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4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Monaco" charset="0"/>
                        <a:cs typeface="Courier New" panose="02070309020205020404" pitchFamily="49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3400" y="35052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E =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129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-&gt; </a:t>
            </a:r>
            <a:r>
              <a:rPr lang="en-US" sz="2400" dirty="0" err="1">
                <a:solidFill>
                  <a:schemeClr val="tx1"/>
                </a:solidFill>
                <a:latin typeface="+mj-lt"/>
              </a:rPr>
              <a:t>Exp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=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 129 – 127 = 2 </a:t>
            </a:r>
            <a:r>
              <a:rPr lang="en-US" sz="2400" dirty="0">
                <a:latin typeface="Calibri" panose="020F0502020204030204" pitchFamily="34" charset="0"/>
              </a:rPr>
              <a:t>(decimal) 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40386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S =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1 -&gt; negative number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45720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M =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1.010 0000 0000 0000 0000 0000 </a:t>
            </a:r>
            <a:endParaRPr lang="en-US" sz="2400" dirty="0">
              <a:solidFill>
                <a:schemeClr val="bg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5033665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M = 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+ 1/4 </a:t>
            </a:r>
            <a:r>
              <a:rPr lang="en-US" sz="2400" dirty="0">
                <a:solidFill>
                  <a:schemeClr val="bg1"/>
                </a:solidFill>
                <a:latin typeface="Calibri Bold"/>
              </a:rPr>
              <a:t>=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1.25</a:t>
            </a:r>
            <a:endParaRPr lang="en-US" sz="2400" dirty="0">
              <a:solidFill>
                <a:schemeClr val="bg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56388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v =</a:t>
            </a:r>
            <a:r>
              <a:rPr lang="en-US" sz="2400" b="1" dirty="0">
                <a:latin typeface="Calibri" panose="020F0502020204030204" pitchFamily="34" charset="0"/>
              </a:rPr>
              <a:t> (–1)</a:t>
            </a:r>
            <a:r>
              <a:rPr lang="en-US" sz="2400" b="1" baseline="32000" dirty="0">
                <a:latin typeface="Calibri" panose="020F0502020204030204" pitchFamily="34" charset="0"/>
              </a:rPr>
              <a:t>s</a:t>
            </a:r>
            <a:r>
              <a:rPr lang="en-US" sz="2400" b="1" dirty="0">
                <a:latin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</a:rPr>
              <a:t> 2</a:t>
            </a:r>
            <a:r>
              <a:rPr lang="en-US" sz="2400" b="1" baseline="32000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E  </a:t>
            </a:r>
            <a:r>
              <a:rPr lang="en-US" sz="2400" b="1" dirty="0">
                <a:latin typeface="Calibri" panose="020F0502020204030204" pitchFamily="34" charset="0"/>
              </a:rPr>
              <a:t>=</a:t>
            </a:r>
            <a:endParaRPr lang="en-US" sz="2400" b="1" i="1" baseline="32000" dirty="0">
              <a:solidFill>
                <a:schemeClr val="bg1"/>
              </a:solidFill>
              <a:latin typeface="Calibri" panose="020F0502020204030204" pitchFamily="34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1428690"/>
            <a:ext cx="220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 algn="l">
              <a:spcBef>
                <a:spcPts val="500"/>
              </a:spcBef>
              <a:buClr>
                <a:srgbClr val="990000"/>
              </a:buClr>
              <a:buSzPct val="110000"/>
            </a:pPr>
            <a:r>
              <a:rPr lang="en-US" sz="2000" kern="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sz="2000" kern="0" dirty="0">
                <a:latin typeface="Calibri" charset="0"/>
                <a:sym typeface="Calibri" charset="0"/>
              </a:rPr>
              <a:t> = 2</a:t>
            </a:r>
            <a:r>
              <a:rPr lang="en-US" sz="2000" kern="0" baseline="32000" dirty="0">
                <a:latin typeface="Calibri" charset="0"/>
                <a:sym typeface="Calibri" charset="0"/>
              </a:rPr>
              <a:t>k-1</a:t>
            </a:r>
            <a:r>
              <a:rPr lang="en-US" sz="2000" kern="0" dirty="0">
                <a:latin typeface="Calibri" charset="0"/>
                <a:sym typeface="Calibri" charset="0"/>
              </a:rPr>
              <a:t> – 1 = 127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543" y="2928316"/>
            <a:ext cx="1577222" cy="374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Straight Connector 16"/>
          <p:cNvCxnSpPr/>
          <p:nvPr/>
        </p:nvCxnSpPr>
        <p:spPr bwMode="auto">
          <a:xfrm>
            <a:off x="1600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0" name="Straight Connector 169"/>
          <p:cNvCxnSpPr/>
          <p:nvPr/>
        </p:nvCxnSpPr>
        <p:spPr bwMode="auto">
          <a:xfrm>
            <a:off x="25146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Straight Connector 170"/>
          <p:cNvCxnSpPr/>
          <p:nvPr/>
        </p:nvCxnSpPr>
        <p:spPr bwMode="auto">
          <a:xfrm>
            <a:off x="34290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2" name="Straight Connector 171"/>
          <p:cNvCxnSpPr/>
          <p:nvPr/>
        </p:nvCxnSpPr>
        <p:spPr bwMode="auto">
          <a:xfrm>
            <a:off x="4357224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Straight Connector 172"/>
          <p:cNvCxnSpPr/>
          <p:nvPr/>
        </p:nvCxnSpPr>
        <p:spPr bwMode="auto">
          <a:xfrm>
            <a:off x="52578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Straight Connector 173"/>
          <p:cNvCxnSpPr/>
          <p:nvPr/>
        </p:nvCxnSpPr>
        <p:spPr bwMode="auto">
          <a:xfrm>
            <a:off x="6172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/>
          <p:cNvCxnSpPr/>
          <p:nvPr/>
        </p:nvCxnSpPr>
        <p:spPr bwMode="auto">
          <a:xfrm>
            <a:off x="7070643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6" name="Straight Connector 175"/>
          <p:cNvCxnSpPr/>
          <p:nvPr/>
        </p:nvCxnSpPr>
        <p:spPr bwMode="auto">
          <a:xfrm>
            <a:off x="7995268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826282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/>
      <p:bldP spid="10" grpId="0"/>
      <p:bldP spid="11" grpId="0"/>
      <p:bldP spid="13" grpId="0" animBg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81000" y="5638800"/>
            <a:ext cx="5029200" cy="533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 float Decoding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5052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E =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129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-&gt; </a:t>
            </a:r>
            <a:r>
              <a:rPr lang="en-US" sz="2400" dirty="0" err="1">
                <a:solidFill>
                  <a:schemeClr val="tx1"/>
                </a:solidFill>
                <a:latin typeface="+mj-lt"/>
              </a:rPr>
              <a:t>Exp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=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 129 – 127 = 2 </a:t>
            </a:r>
            <a:r>
              <a:rPr lang="en-US" sz="2400" dirty="0">
                <a:latin typeface="Calibri" panose="020F0502020204030204" pitchFamily="34" charset="0"/>
              </a:rPr>
              <a:t>(decimal) 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40386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S = </a:t>
            </a:r>
            <a:r>
              <a:rPr lang="en-US" sz="2400" dirty="0">
                <a:solidFill>
                  <a:schemeClr val="bg1"/>
                </a:solidFill>
                <a:latin typeface="+mj-lt"/>
              </a:rPr>
              <a:t>1 -&gt; negative number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45720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M =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010 0000 0000 0000 0000 0000 </a:t>
            </a:r>
            <a:endParaRPr lang="en-US" sz="2400" dirty="0">
              <a:solidFill>
                <a:schemeClr val="bg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5033665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M = 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+ 1/4 </a:t>
            </a:r>
            <a:r>
              <a:rPr lang="en-US" sz="2400" dirty="0">
                <a:solidFill>
                  <a:schemeClr val="bg1"/>
                </a:solidFill>
                <a:latin typeface="Calibri Bold"/>
              </a:rPr>
              <a:t>=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1.25</a:t>
            </a:r>
            <a:endParaRPr lang="en-US" sz="2400" dirty="0">
              <a:solidFill>
                <a:schemeClr val="bg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56388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v =</a:t>
            </a:r>
            <a:r>
              <a:rPr lang="en-US" sz="2400" b="1" dirty="0">
                <a:latin typeface="Calibri" panose="020F0502020204030204" pitchFamily="34" charset="0"/>
              </a:rPr>
              <a:t> (–1)</a:t>
            </a:r>
            <a:r>
              <a:rPr lang="en-US" sz="2400" b="1" baseline="32000" dirty="0">
                <a:latin typeface="Calibri" panose="020F0502020204030204" pitchFamily="34" charset="0"/>
              </a:rPr>
              <a:t>s</a:t>
            </a:r>
            <a:r>
              <a:rPr lang="en-US" sz="2400" b="1" dirty="0">
                <a:latin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</a:rPr>
              <a:t> 2</a:t>
            </a:r>
            <a:r>
              <a:rPr lang="en-US" sz="2400" b="1" baseline="32000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E  </a:t>
            </a:r>
            <a:r>
              <a:rPr lang="en-US" sz="2400" b="1" dirty="0">
                <a:latin typeface="Calibri" panose="020F0502020204030204" pitchFamily="34" charset="0"/>
              </a:rPr>
              <a:t>=</a:t>
            </a:r>
            <a:endParaRPr lang="en-US" sz="2400" b="1" i="1" baseline="32000" dirty="0">
              <a:solidFill>
                <a:schemeClr val="bg1"/>
              </a:solidFill>
              <a:latin typeface="Calibri" panose="020F0502020204030204" pitchFamily="34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543" y="2928316"/>
            <a:ext cx="1577222" cy="374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533400" y="1224385"/>
            <a:ext cx="2793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float: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0xC0A00000</a:t>
            </a:r>
            <a:endParaRPr lang="en-US" sz="2400" b="1" dirty="0"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18288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binary: </a:t>
            </a:r>
            <a:r>
              <a:rPr lang="en-US" sz="2400" b="1" dirty="0">
                <a:solidFill>
                  <a:srgbClr val="CC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100 0000 1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010 0000 0000 0000 0000 0000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>
              <a:latin typeface="+mj-lt"/>
            </a:endParaRPr>
          </a:p>
        </p:txBody>
      </p:sp>
      <p:graphicFrame>
        <p:nvGraphicFramePr>
          <p:cNvPr id="2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152980"/>
              </p:ext>
            </p:extLst>
          </p:nvPr>
        </p:nvGraphicFramePr>
        <p:xfrm>
          <a:off x="1447800" y="2438400"/>
          <a:ext cx="6781800" cy="1016000"/>
        </p:xfrm>
        <a:graphic>
          <a:graphicData uri="http://schemas.openxmlformats.org/drawingml/2006/table">
            <a:tbl>
              <a:tblPr/>
              <a:tblGrid>
                <a:gridCol w="34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4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1000 0001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010 0000 0000 0000 0000 0000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" name="Straight Connector 25"/>
          <p:cNvCxnSpPr/>
          <p:nvPr/>
        </p:nvCxnSpPr>
        <p:spPr bwMode="auto">
          <a:xfrm>
            <a:off x="1600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25146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>
            <a:off x="34290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4357224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52578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6172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>
            <a:off x="7070643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/>
          <p:nvPr/>
        </p:nvCxnSpPr>
        <p:spPr bwMode="auto">
          <a:xfrm>
            <a:off x="7995268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2427435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381000" y="5638800"/>
            <a:ext cx="5029200" cy="533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 float Decoding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224385"/>
            <a:ext cx="2793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float: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0xC0A00000</a:t>
            </a:r>
            <a:endParaRPr lang="en-US" sz="24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8288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+mj-lt"/>
              </a:rPr>
              <a:t>binary: </a:t>
            </a:r>
            <a:r>
              <a:rPr lang="en-US" sz="2400" b="1" dirty="0">
                <a:solidFill>
                  <a:srgbClr val="CC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100 0000 1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010 0000 0000 0000 0000 0000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b="1" dirty="0">
              <a:latin typeface="+mj-lt"/>
            </a:endParaRPr>
          </a:p>
        </p:txBody>
      </p:sp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930392"/>
              </p:ext>
            </p:extLst>
          </p:nvPr>
        </p:nvGraphicFramePr>
        <p:xfrm>
          <a:off x="1447800" y="2438400"/>
          <a:ext cx="6781800" cy="1016000"/>
        </p:xfrm>
        <a:graphic>
          <a:graphicData uri="http://schemas.openxmlformats.org/drawingml/2006/table">
            <a:tbl>
              <a:tblPr/>
              <a:tblGrid>
                <a:gridCol w="346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4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Monaco" charset="0"/>
                          <a:cs typeface="Courier New" panose="02070309020205020404" pitchFamily="49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1000 0001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010 0000 0000 0000 0000 0000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3400" y="35052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E =</a:t>
            </a:r>
            <a:r>
              <a:rPr lang="en-US" sz="2400" dirty="0">
                <a:latin typeface="+mj-lt"/>
              </a:rPr>
              <a:t> 129 -&gt; </a:t>
            </a:r>
            <a:r>
              <a:rPr lang="en-US" sz="2400" dirty="0" err="1">
                <a:latin typeface="+mj-lt"/>
              </a:rPr>
              <a:t>Exp</a:t>
            </a:r>
            <a:r>
              <a:rPr lang="en-US" sz="2400" dirty="0">
                <a:latin typeface="+mj-lt"/>
              </a:rPr>
              <a:t> = 129 – 127 =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2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(decimal) 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40386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+mj-lt"/>
              </a:rPr>
              <a:t>S = 1 </a:t>
            </a:r>
            <a:r>
              <a:rPr lang="en-US" sz="2400" dirty="0">
                <a:latin typeface="+mj-lt"/>
              </a:rPr>
              <a:t>-&gt; negative number</a:t>
            </a:r>
            <a:endParaRPr lang="en-US" sz="2400" b="1" dirty="0"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45720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M =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010 0000 0000 0000 0000 0000 </a:t>
            </a:r>
            <a:endParaRPr lang="en-US" sz="2400" dirty="0">
              <a:solidFill>
                <a:schemeClr val="tx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3400" y="5033665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>
                <a:srgbClr val="990000"/>
              </a:buClr>
              <a:buSzPct val="60000"/>
              <a:tabLst>
                <a:tab pos="914400" algn="l"/>
              </a:tabLst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M </a:t>
            </a:r>
            <a:r>
              <a:rPr lang="en-US" sz="2400" dirty="0">
                <a:latin typeface="+mj-lt"/>
              </a:rPr>
              <a:t>=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+ 1/4 </a:t>
            </a:r>
            <a:r>
              <a:rPr lang="en-US" sz="2400" dirty="0">
                <a:solidFill>
                  <a:srgbClr val="C00000"/>
                </a:solidFill>
                <a:latin typeface="Calibri Bold"/>
              </a:rPr>
              <a:t>=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1.25</a:t>
            </a:r>
            <a:endParaRPr lang="en-US" sz="2400" dirty="0">
              <a:solidFill>
                <a:schemeClr val="tx1"/>
              </a:solidFill>
              <a:latin typeface="Calibri"/>
              <a:ea typeface="Monaco" charset="0"/>
              <a:cs typeface="Calibri"/>
              <a:sym typeface="Monaco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56388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v =</a:t>
            </a:r>
            <a:r>
              <a:rPr lang="en-US" sz="2400" b="1" dirty="0">
                <a:latin typeface="Calibri" panose="020F0502020204030204" pitchFamily="34" charset="0"/>
              </a:rPr>
              <a:t> (–1)</a:t>
            </a:r>
            <a:r>
              <a:rPr lang="en-US" sz="2400" b="1" baseline="32000" dirty="0">
                <a:latin typeface="Calibri" panose="020F0502020204030204" pitchFamily="34" charset="0"/>
              </a:rPr>
              <a:t>s</a:t>
            </a:r>
            <a:r>
              <a:rPr lang="en-US" sz="2400" b="1" dirty="0">
                <a:latin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b="1" dirty="0">
                <a:latin typeface="Calibri" panose="020F0502020204030204" pitchFamily="34" charset="0"/>
              </a:rPr>
              <a:t> 2</a:t>
            </a:r>
            <a:r>
              <a:rPr lang="en-US" sz="2400" b="1" baseline="32000" dirty="0">
                <a:latin typeface="Calibri" panose="020F0502020204030204" pitchFamily="34" charset="0"/>
                <a:ea typeface="Calibri Bold Italic" charset="0"/>
                <a:cs typeface="Calibri Bold Italic" charset="0"/>
                <a:sym typeface="Calibri Bold Italic" charset="0"/>
              </a:rPr>
              <a:t>E  </a:t>
            </a:r>
            <a:r>
              <a:rPr lang="en-US" sz="2400" b="1" dirty="0">
                <a:latin typeface="Calibri" panose="020F0502020204030204" pitchFamily="34" charset="0"/>
              </a:rPr>
              <a:t>= (-1)</a:t>
            </a:r>
            <a:r>
              <a:rPr lang="en-US" sz="2400" b="1" baseline="30000" dirty="0">
                <a:latin typeface="Calibri" panose="020F0502020204030204" pitchFamily="34" charset="0"/>
              </a:rPr>
              <a:t>1</a:t>
            </a:r>
            <a:r>
              <a:rPr lang="en-US" sz="2400" b="1" dirty="0">
                <a:latin typeface="Calibri" panose="020F0502020204030204" pitchFamily="34" charset="0"/>
              </a:rPr>
              <a:t> * 1.25 * 2</a:t>
            </a:r>
            <a:r>
              <a:rPr lang="en-US" sz="2400" b="1" baseline="30000" dirty="0">
                <a:latin typeface="Calibri" panose="020F0502020204030204" pitchFamily="34" charset="0"/>
              </a:rPr>
              <a:t>2</a:t>
            </a:r>
            <a:r>
              <a:rPr lang="en-US" sz="2400" b="1" dirty="0">
                <a:latin typeface="Calibri" panose="020F0502020204030204" pitchFamily="34" charset="0"/>
              </a:rPr>
              <a:t> =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-5</a:t>
            </a:r>
            <a:endParaRPr lang="en-US" sz="2400" b="1" baseline="32000" dirty="0">
              <a:solidFill>
                <a:srgbClr val="C00000"/>
              </a:solidFill>
              <a:latin typeface="Calibri" panose="020F0502020204030204" pitchFamily="34" charset="0"/>
              <a:ea typeface="Calibri Bold Italic" charset="0"/>
              <a:cs typeface="Calibri Bold Italic" charset="0"/>
              <a:sym typeface="Calibri Bold Italic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1428690"/>
            <a:ext cx="2209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8" lvl="1" algn="l">
              <a:spcBef>
                <a:spcPts val="500"/>
              </a:spcBef>
              <a:buClr>
                <a:srgbClr val="990000"/>
              </a:buClr>
              <a:buSzPct val="110000"/>
            </a:pPr>
            <a:r>
              <a:rPr lang="en-US" sz="2000" kern="0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sz="2000" kern="0" dirty="0">
                <a:latin typeface="Calibri" charset="0"/>
                <a:sym typeface="Calibri" charset="0"/>
              </a:rPr>
              <a:t> = 2</a:t>
            </a:r>
            <a:r>
              <a:rPr lang="en-US" sz="2000" kern="0" baseline="32000" dirty="0">
                <a:latin typeface="Calibri" charset="0"/>
                <a:sym typeface="Calibri" charset="0"/>
              </a:rPr>
              <a:t>k-1</a:t>
            </a:r>
            <a:r>
              <a:rPr lang="en-US" sz="2000" kern="0" dirty="0">
                <a:latin typeface="Calibri" charset="0"/>
                <a:sym typeface="Calibri" charset="0"/>
              </a:rPr>
              <a:t> – 1 = 127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543" y="2928316"/>
            <a:ext cx="1577222" cy="3749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Straight Connector 16"/>
          <p:cNvCxnSpPr/>
          <p:nvPr/>
        </p:nvCxnSpPr>
        <p:spPr bwMode="auto">
          <a:xfrm>
            <a:off x="1600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0" name="Straight Connector 169"/>
          <p:cNvCxnSpPr/>
          <p:nvPr/>
        </p:nvCxnSpPr>
        <p:spPr bwMode="auto">
          <a:xfrm>
            <a:off x="25146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1" name="Straight Connector 170"/>
          <p:cNvCxnSpPr/>
          <p:nvPr/>
        </p:nvCxnSpPr>
        <p:spPr bwMode="auto">
          <a:xfrm>
            <a:off x="34290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2" name="Straight Connector 171"/>
          <p:cNvCxnSpPr/>
          <p:nvPr/>
        </p:nvCxnSpPr>
        <p:spPr bwMode="auto">
          <a:xfrm>
            <a:off x="4357224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3" name="Straight Connector 172"/>
          <p:cNvCxnSpPr/>
          <p:nvPr/>
        </p:nvCxnSpPr>
        <p:spPr bwMode="auto">
          <a:xfrm>
            <a:off x="52578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Straight Connector 173"/>
          <p:cNvCxnSpPr/>
          <p:nvPr/>
        </p:nvCxnSpPr>
        <p:spPr bwMode="auto">
          <a:xfrm>
            <a:off x="6172200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Straight Connector 174"/>
          <p:cNvCxnSpPr/>
          <p:nvPr/>
        </p:nvCxnSpPr>
        <p:spPr bwMode="auto">
          <a:xfrm>
            <a:off x="7070643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6" name="Straight Connector 175"/>
          <p:cNvCxnSpPr/>
          <p:nvPr/>
        </p:nvCxnSpPr>
        <p:spPr bwMode="auto">
          <a:xfrm>
            <a:off x="7995268" y="2209800"/>
            <a:ext cx="685800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4075655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83550" cy="1095375"/>
          </a:xfrm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Visualization: Floating Point Encodings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838200" y="2960688"/>
            <a:ext cx="7315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838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81534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8153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267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8153400" y="3570288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86868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048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304800" y="3636963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8382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7772400" y="2451100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+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715963" y="2427288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3886200" y="3405188"/>
            <a:ext cx="331822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Symbol" pitchFamily="18" charset="2"/>
                <a:cs typeface="Symbol" pitchFamily="18" charset="2"/>
                <a:sym typeface="Symbol"/>
              </a:rPr>
              <a:t>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0</a:t>
            </a: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5867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8" name="Rectangle 18"/>
          <p:cNvSpPr>
            <a:spLocks/>
          </p:cNvSpPr>
          <p:nvPr/>
        </p:nvSpPr>
        <p:spPr bwMode="auto">
          <a:xfrm>
            <a:off x="4737100" y="2579688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+Denorm</a:t>
            </a:r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609600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+Normalized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3048000" y="2593975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Denorm</a:t>
            </a:r>
            <a:endParaRPr lang="en-US" sz="1800" dirty="0">
              <a:solidFill>
                <a:schemeClr val="tx1"/>
              </a:solidFill>
              <a:latin typeface="+mn-lt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3048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140335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Normalized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4724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4495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7924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1143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rot="10800000" flipH="1">
            <a:off x="4191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rot="10800000">
            <a:off x="4572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9" name="Rectangle 29"/>
          <p:cNvSpPr>
            <a:spLocks/>
          </p:cNvSpPr>
          <p:nvPr/>
        </p:nvSpPr>
        <p:spPr bwMode="auto">
          <a:xfrm>
            <a:off x="4572000" y="3408363"/>
            <a:ext cx="33983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+0</a:t>
            </a:r>
          </a:p>
        </p:txBody>
      </p:sp>
      <p:sp>
        <p:nvSpPr>
          <p:cNvPr id="25630" name="Rectangle 30"/>
          <p:cNvSpPr>
            <a:spLocks/>
          </p:cNvSpPr>
          <p:nvPr/>
        </p:nvSpPr>
        <p:spPr bwMode="auto">
          <a:xfrm>
            <a:off x="320675" y="32559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5631" name="Rectangle 31"/>
          <p:cNvSpPr>
            <a:spLocks/>
          </p:cNvSpPr>
          <p:nvPr/>
        </p:nvSpPr>
        <p:spPr bwMode="auto">
          <a:xfrm>
            <a:off x="8161338" y="31797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Today: Floating Point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Background: Fractional binary numbers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IEEE floating point standard: Definition</a:t>
            </a:r>
            <a:endParaRPr lang="en-US"/>
          </a:p>
          <a:p>
            <a:pPr marL="215900" indent="-215900"/>
            <a:r>
              <a:rPr lang="en-US">
                <a:ea typeface="Calibri" charset="0"/>
                <a:cs typeface="Calibri" charset="0"/>
              </a:rPr>
              <a:t>Example and properties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Rounding, addition, multiplication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Floating point in C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Sum</a:t>
            </a:r>
            <a:r>
              <a:rPr lang="en-US">
                <a:solidFill>
                  <a:srgbClr val="B3B3B3"/>
                </a:solidFill>
                <a:ea typeface="Calibri" charset="0"/>
                <a:cs typeface="Calibri" charset="0"/>
              </a:rPr>
              <a:t>m</a:t>
            </a: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ary</a:t>
            </a:r>
            <a:endParaRPr lang="en-US">
              <a:solidFill>
                <a:srgbClr val="A5A5A5"/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Tiny Floating Point Example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667000"/>
            <a:ext cx="8382000" cy="4076700"/>
          </a:xfrm>
          <a:ln/>
        </p:spPr>
        <p:txBody>
          <a:bodyPr/>
          <a:lstStyle/>
          <a:p>
            <a:r>
              <a:rPr lang="en-US" dirty="0"/>
              <a:t>8-bit Floating Point Representation</a:t>
            </a:r>
          </a:p>
          <a:p>
            <a:pPr marL="552450" lvl="1"/>
            <a:r>
              <a:rPr lang="en-US" dirty="0"/>
              <a:t>the sign bit is in the most significant bit</a:t>
            </a:r>
          </a:p>
          <a:p>
            <a:pPr marL="552450" lvl="1"/>
            <a:r>
              <a:rPr lang="en-US" dirty="0"/>
              <a:t>the next four bits are the exponent, with a bias of 7</a:t>
            </a:r>
          </a:p>
          <a:p>
            <a:pPr marL="552450" lvl="1"/>
            <a:r>
              <a:rPr lang="en-US" dirty="0"/>
              <a:t>the last three bits are the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/>
          </a:p>
          <a:p>
            <a:endParaRPr lang="en-US" dirty="0"/>
          </a:p>
          <a:p>
            <a:r>
              <a:rPr lang="en-US" dirty="0"/>
              <a:t>Same general form as IEEE Format</a:t>
            </a:r>
          </a:p>
          <a:p>
            <a:pPr marL="552450" lvl="1"/>
            <a:r>
              <a:rPr lang="en-US" dirty="0"/>
              <a:t>normalized, </a:t>
            </a:r>
            <a:r>
              <a:rPr lang="en-US" dirty="0" err="1"/>
              <a:t>denormalized</a:t>
            </a:r>
            <a:endParaRPr lang="en-US" dirty="0"/>
          </a:p>
          <a:p>
            <a:pPr marL="552450" lvl="1"/>
            <a:r>
              <a:rPr lang="en-US" dirty="0"/>
              <a:t>representation of 0, </a:t>
            </a:r>
            <a:r>
              <a:rPr lang="en-US" dirty="0" err="1"/>
              <a:t>NaN</a:t>
            </a:r>
            <a:r>
              <a:rPr lang="en-US" dirty="0"/>
              <a:t>, infinity</a:t>
            </a:r>
          </a:p>
          <a:p>
            <a:pPr marL="552450" lvl="1"/>
            <a:endParaRPr lang="en-US" dirty="0"/>
          </a:p>
        </p:txBody>
      </p:sp>
      <p:graphicFrame>
        <p:nvGraphicFramePr>
          <p:cNvPr id="276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53814"/>
              </p:ext>
            </p:extLst>
          </p:nvPr>
        </p:nvGraphicFramePr>
        <p:xfrm>
          <a:off x="1955800" y="15748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/>
          </p:cNvSpPr>
          <p:nvPr/>
        </p:nvSpPr>
        <p:spPr bwMode="auto">
          <a:xfrm>
            <a:off x="0" y="6019800"/>
            <a:ext cx="8928100" cy="381000"/>
          </a:xfrm>
          <a:prstGeom prst="rect">
            <a:avLst/>
          </a:prstGeom>
          <a:solidFill>
            <a:srgbClr val="EFBFBF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6" name="Rectangle 4"/>
          <p:cNvSpPr>
            <a:spLocks/>
          </p:cNvSpPr>
          <p:nvPr/>
        </p:nvSpPr>
        <p:spPr bwMode="auto">
          <a:xfrm>
            <a:off x="0" y="3074275"/>
            <a:ext cx="8928100" cy="2895600"/>
          </a:xfrm>
          <a:prstGeom prst="rect">
            <a:avLst/>
          </a:prstGeom>
          <a:solidFill>
            <a:srgbClr val="F6F5BD"/>
          </a:solidFill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8677" name="Rectangle 5"/>
          <p:cNvSpPr>
            <a:spLocks/>
          </p:cNvSpPr>
          <p:nvPr/>
        </p:nvSpPr>
        <p:spPr bwMode="auto">
          <a:xfrm>
            <a:off x="1524000" y="990600"/>
            <a:ext cx="4648200" cy="5562600"/>
          </a:xfrm>
          <a:prstGeom prst="rect">
            <a:avLst/>
          </a:prstGeom>
          <a:noFill/>
          <a:ln w="25400" cap="flat">
            <a:noFill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exp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frac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Calibri Bold" charset="0"/>
                <a:cs typeface="Courier New" pitchFamily="49" charset="0"/>
                <a:sym typeface="Calibri Bold" charset="0"/>
              </a:rPr>
              <a:t>Value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spcBef>
                <a:spcPts val="1200"/>
              </a:spcBef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000	-6	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001	-6	1/8*1/64 = 1/512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010	-6	2/8*1/64 = 2/512</a:t>
            </a:r>
            <a:endParaRPr lang="en-US" sz="1600" b="1" dirty="0">
              <a:solidFill>
                <a:srgbClr val="0070C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110	-6	6/8*1/64 = 6/512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0000 111	-6	7/8*1/64 = 7/512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000	-6	8/8*1/64 = 8/512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0001 001  	-6	9/8*1/64 = 9/512</a:t>
            </a:r>
            <a:endParaRPr lang="en-US" sz="16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110	-1	14/8*1/2 = 14/16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0110 111	-1	15/8*1/2 = 15/16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000	0	8/8*1    = 1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001	0	9/8*1    = 9/8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0111 010	0	10/8*1   = 10/8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…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110	7	14/8*128 = 224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1110 111	7	15/8*128 = 240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lnSpc>
                <a:spcPct val="110000"/>
              </a:lnSpc>
              <a:tabLst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  <a:tab pos="1762125" algn="l"/>
                <a:tab pos="2493963" algn="l"/>
              </a:tabLst>
            </a:pP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 1111 000	n/a	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inf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927100"/>
          </a:xfrm>
          <a:ln/>
        </p:spPr>
        <p:txBody>
          <a:bodyPr/>
          <a:lstStyle/>
          <a:p>
            <a:pPr marL="119063" indent="-119063"/>
            <a:r>
              <a:rPr lang="en-US" dirty="0"/>
              <a:t>Dynamic Range (Positive Only)</a:t>
            </a:r>
          </a:p>
        </p:txBody>
      </p:sp>
      <p:sp>
        <p:nvSpPr>
          <p:cNvPr id="28680" name="Rectangle 8"/>
          <p:cNvSpPr>
            <a:spLocks/>
          </p:cNvSpPr>
          <p:nvPr/>
        </p:nvSpPr>
        <p:spPr bwMode="auto">
          <a:xfrm>
            <a:off x="6858000" y="1631730"/>
            <a:ext cx="1514838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zero</a:t>
            </a:r>
          </a:p>
        </p:txBody>
      </p:sp>
      <p:sp>
        <p:nvSpPr>
          <p:cNvPr id="28681" name="Rectangle 9"/>
          <p:cNvSpPr>
            <a:spLocks/>
          </p:cNvSpPr>
          <p:nvPr/>
        </p:nvSpPr>
        <p:spPr bwMode="auto">
          <a:xfrm>
            <a:off x="6858000" y="2753740"/>
            <a:ext cx="1559722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</a:t>
            </a:r>
            <a:r>
              <a:rPr lang="en-US" sz="1600" b="1" dirty="0" err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</a:t>
            </a:r>
            <a:endParaRPr lang="en-US" sz="1600" b="1" dirty="0">
              <a:solidFill>
                <a:schemeClr val="tx1"/>
              </a:solidFill>
              <a:latin typeface="+mn-lt"/>
              <a:ea typeface="Calibri Bold" charset="0"/>
              <a:cs typeface="Courier New" pitchFamily="49" charset="0"/>
              <a:sym typeface="Calibri Bold" charset="0"/>
            </a:endParaRPr>
          </a:p>
        </p:txBody>
      </p:sp>
      <p:sp>
        <p:nvSpPr>
          <p:cNvPr id="28682" name="Rectangle 10"/>
          <p:cNvSpPr>
            <a:spLocks/>
          </p:cNvSpPr>
          <p:nvPr/>
        </p:nvSpPr>
        <p:spPr bwMode="auto">
          <a:xfrm>
            <a:off x="6858000" y="3058540"/>
            <a:ext cx="146995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smallest norm</a:t>
            </a:r>
          </a:p>
        </p:txBody>
      </p:sp>
      <p:sp>
        <p:nvSpPr>
          <p:cNvPr id="28683" name="Rectangle 11"/>
          <p:cNvSpPr>
            <a:spLocks/>
          </p:cNvSpPr>
          <p:nvPr/>
        </p:nvSpPr>
        <p:spPr bwMode="auto">
          <a:xfrm>
            <a:off x="6858000" y="4075415"/>
            <a:ext cx="1846659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below</a:t>
            </a:r>
          </a:p>
        </p:txBody>
      </p:sp>
      <p:sp>
        <p:nvSpPr>
          <p:cNvPr id="28684" name="Rectangle 12"/>
          <p:cNvSpPr>
            <a:spLocks/>
          </p:cNvSpPr>
          <p:nvPr/>
        </p:nvSpPr>
        <p:spPr bwMode="auto">
          <a:xfrm>
            <a:off x="6858000" y="4582570"/>
            <a:ext cx="1856277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 dirty="0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closest to 1 above</a:t>
            </a:r>
          </a:p>
        </p:txBody>
      </p:sp>
      <p:sp>
        <p:nvSpPr>
          <p:cNvPr id="28685" name="Rectangle 13"/>
          <p:cNvSpPr>
            <a:spLocks/>
          </p:cNvSpPr>
          <p:nvPr/>
        </p:nvSpPr>
        <p:spPr bwMode="auto">
          <a:xfrm>
            <a:off x="6858000" y="5649340"/>
            <a:ext cx="1320874" cy="32316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largest norm</a:t>
            </a:r>
          </a:p>
        </p:txBody>
      </p:sp>
      <p:sp>
        <p:nvSpPr>
          <p:cNvPr id="28686" name="Rectangle 14"/>
          <p:cNvSpPr>
            <a:spLocks/>
          </p:cNvSpPr>
          <p:nvPr/>
        </p:nvSpPr>
        <p:spPr bwMode="auto">
          <a:xfrm>
            <a:off x="60325" y="1981200"/>
            <a:ext cx="1421864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Denormalized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28687" name="Rectangle 15"/>
          <p:cNvSpPr>
            <a:spLocks/>
          </p:cNvSpPr>
          <p:nvPr/>
        </p:nvSpPr>
        <p:spPr bwMode="auto">
          <a:xfrm>
            <a:off x="73025" y="4343400"/>
            <a:ext cx="1183016" cy="5693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Normalized</a:t>
            </a:r>
            <a:endParaRPr lang="en-US" sz="1600" b="1">
              <a:solidFill>
                <a:schemeClr val="tx1"/>
              </a:solidFill>
              <a:latin typeface="+mn-lt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/>
            <a:r>
              <a:rPr lang="en-US" sz="1600" b="1">
                <a:solidFill>
                  <a:schemeClr val="tx1"/>
                </a:solidFill>
                <a:latin typeface="+mn-lt"/>
                <a:ea typeface="Calibri Bold" charset="0"/>
                <a:cs typeface="Courier New" pitchFamily="49" charset="0"/>
                <a:sym typeface="Calibri Bold" charset="0"/>
              </a:rPr>
              <a:t>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304800"/>
            <a:ext cx="2419463" cy="1200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n: E =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– Bias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d: E</a:t>
            </a:r>
            <a:r>
              <a:rPr lang="en-US" sz="2400" dirty="0"/>
              <a:t> =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6270010" y="188589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(-1)</a:t>
            </a:r>
            <a:r>
              <a:rPr lang="en-US" sz="2000" b="1" baseline="30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(0+1/4)*2</a:t>
            </a:r>
            <a:r>
              <a:rPr lang="en-US" sz="2000" b="1" baseline="30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0010" y="3276600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(-1)</a:t>
            </a:r>
            <a:r>
              <a:rPr lang="en-US" sz="2000" b="1" baseline="3000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(1+1/8)*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baseline="30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-6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1024"/>
          <p:cNvGraphicFramePr>
            <a:graphicFrameLocks noChangeAspect="1"/>
          </p:cNvGraphicFramePr>
          <p:nvPr/>
        </p:nvGraphicFramePr>
        <p:xfrm>
          <a:off x="381000" y="4419600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52500" progId="Excel.Sheet.8">
                  <p:embed/>
                </p:oleObj>
              </mc:Choice>
              <mc:Fallback>
                <p:oleObj name="Worksheet" r:id="rId2" imgW="7848600" imgH="952500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6-bit IEEE-like format</a:t>
            </a:r>
          </a:p>
          <a:p>
            <a:pPr marL="552450" lvl="1"/>
            <a:r>
              <a:rPr lang="en-US" dirty="0"/>
              <a:t>e = 3 exponent bits</a:t>
            </a:r>
          </a:p>
          <a:p>
            <a:pPr marL="552450" lvl="1"/>
            <a:r>
              <a:rPr lang="en-US" dirty="0"/>
              <a:t>f = 2 fraction bits</a:t>
            </a:r>
          </a:p>
          <a:p>
            <a:pPr marL="552450" lvl="1"/>
            <a:r>
              <a:rPr lang="en-US" dirty="0"/>
              <a:t>Bias is 2</a:t>
            </a:r>
            <a:r>
              <a:rPr lang="en-US" baseline="30000" dirty="0"/>
              <a:t>3-1</a:t>
            </a:r>
            <a:r>
              <a:rPr lang="en-US" dirty="0"/>
              <a:t>-1 = 3</a:t>
            </a:r>
          </a:p>
          <a:p>
            <a:pPr marL="552450" lvl="1"/>
            <a:endParaRPr lang="en-US" dirty="0"/>
          </a:p>
          <a:p>
            <a:r>
              <a:rPr lang="en-US" dirty="0"/>
              <a:t>Notice how the distribution gets denser toward zero. 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5486400" y="3810000"/>
            <a:ext cx="1082349" cy="369332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8 values</a:t>
            </a: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6717"/>
              </p:ext>
            </p:extLst>
          </p:nvPr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" name="Straight Arrow Connector 35"/>
          <p:cNvCxnSpPr>
            <a:stCxn id="29703" idx="1"/>
          </p:cNvCxnSpPr>
          <p:nvPr/>
        </p:nvCxnSpPr>
        <p:spPr bwMode="auto">
          <a:xfrm rot="10800000" flipV="1">
            <a:off x="4572000" y="3994666"/>
            <a:ext cx="914400" cy="42493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Distribution of Values (close-up view)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6-bit IEEE-like format</a:t>
            </a:r>
          </a:p>
          <a:p>
            <a:pPr marL="552450" lvl="1"/>
            <a:r>
              <a:rPr lang="en-US"/>
              <a:t>e = 3 exponent bits</a:t>
            </a:r>
          </a:p>
          <a:p>
            <a:pPr marL="552450" lvl="1"/>
            <a:r>
              <a:rPr lang="en-US"/>
              <a:t>f = 2 fraction bits</a:t>
            </a:r>
          </a:p>
          <a:p>
            <a:pPr marL="552450" lvl="1"/>
            <a:r>
              <a:rPr lang="en-US"/>
              <a:t>Bias is 3</a:t>
            </a:r>
          </a:p>
        </p:txBody>
      </p:sp>
      <p:graphicFrame>
        <p:nvGraphicFramePr>
          <p:cNvPr id="30726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558112"/>
              </p:ext>
            </p:extLst>
          </p:nvPr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751" name="Object 1024"/>
          <p:cNvGraphicFramePr>
            <a:graphicFrameLocks noChangeAspect="1"/>
          </p:cNvGraphicFramePr>
          <p:nvPr/>
        </p:nvGraphicFramePr>
        <p:xfrm>
          <a:off x="404813" y="3924300"/>
          <a:ext cx="83359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65200" progId="Excel.Sheet.8">
                  <p:embed/>
                </p:oleObj>
              </mc:Choice>
              <mc:Fallback>
                <p:oleObj name="Worksheet" r:id="rId2" imgW="7848600" imgH="965200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3924300"/>
                        <a:ext cx="83359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Properties of the IEEE Encoding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FP Zero Same as Integer Zero</a:t>
            </a:r>
          </a:p>
          <a:p>
            <a:pPr marL="552450" lvl="1"/>
            <a:r>
              <a:rPr lang="en-US" dirty="0"/>
              <a:t>All bits = 0</a:t>
            </a:r>
          </a:p>
          <a:p>
            <a:endParaRPr lang="en-US" dirty="0"/>
          </a:p>
          <a:p>
            <a:r>
              <a:rPr lang="en-US" dirty="0"/>
              <a:t>Can (Almost) Use Unsigned Integer Comparison</a:t>
            </a:r>
          </a:p>
          <a:p>
            <a:pPr marL="552450" lvl="1"/>
            <a:r>
              <a:rPr lang="en-US" dirty="0"/>
              <a:t>Must first compare sign bits</a:t>
            </a:r>
          </a:p>
          <a:p>
            <a:pPr marL="552450" lvl="1"/>
            <a:r>
              <a:rPr lang="en-US" dirty="0"/>
              <a:t>Must consider −0 = 0</a:t>
            </a:r>
          </a:p>
          <a:p>
            <a:pPr marL="552450" lvl="1"/>
            <a:r>
              <a:rPr lang="en-US" dirty="0" err="1"/>
              <a:t>NaNs</a:t>
            </a:r>
            <a:r>
              <a:rPr lang="en-US" dirty="0"/>
              <a:t> problematic</a:t>
            </a:r>
          </a:p>
          <a:p>
            <a:pPr marL="838200" lvl="2"/>
            <a:r>
              <a:rPr lang="en-US" dirty="0"/>
              <a:t>Will be greater than any other values</a:t>
            </a:r>
          </a:p>
          <a:p>
            <a:pPr marL="838200" lvl="2"/>
            <a:r>
              <a:rPr lang="en-US" dirty="0"/>
              <a:t>What should comparison yield? The answer is complicated.</a:t>
            </a:r>
          </a:p>
          <a:p>
            <a:pPr marL="552450" lvl="1"/>
            <a:r>
              <a:rPr lang="en-US" dirty="0"/>
              <a:t> Otherwise OK</a:t>
            </a:r>
          </a:p>
          <a:p>
            <a:pPr marL="838200" lvl="2"/>
            <a:r>
              <a:rPr lang="en-US" dirty="0" err="1"/>
              <a:t>Denorm</a:t>
            </a:r>
            <a:r>
              <a:rPr lang="en-US" dirty="0"/>
              <a:t> vs. normalized</a:t>
            </a:r>
          </a:p>
          <a:p>
            <a:pPr marL="838200" lvl="2"/>
            <a:r>
              <a:rPr lang="en-US" dirty="0"/>
              <a:t>Normalized vs. infinity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Operations: Basic Idea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+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+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>
              <a:latin typeface="Courier New Bold" charset="0"/>
              <a:sym typeface="Courier New Bold" charset="0"/>
            </a:endParaRP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/>
          </a:p>
          <a:p>
            <a:r>
              <a:rPr lang="en-US" dirty="0"/>
              <a:t>Basic idea</a:t>
            </a:r>
          </a:p>
          <a:p>
            <a:pPr marL="552450" lvl="1"/>
            <a:r>
              <a:rPr lang="en-US" dirty="0"/>
              <a:t>First </a:t>
            </a:r>
            <a:r>
              <a:rPr lang="en-US" dirty="0">
                <a:solidFill>
                  <a:srgbClr val="980002"/>
                </a:solidFill>
              </a:rPr>
              <a:t>compute exact result</a:t>
            </a:r>
            <a:endParaRPr lang="en-US" dirty="0"/>
          </a:p>
          <a:p>
            <a:pPr marL="552450" lvl="1"/>
            <a:r>
              <a:rPr lang="en-US" dirty="0"/>
              <a:t>Make it fit into desired precision</a:t>
            </a:r>
          </a:p>
          <a:p>
            <a:pPr marL="838200" lvl="2"/>
            <a:r>
              <a:rPr lang="en-US" dirty="0"/>
              <a:t>Possibly overflow if exponent too large</a:t>
            </a:r>
          </a:p>
          <a:p>
            <a:pPr marL="838200" lvl="2"/>
            <a:r>
              <a:rPr lang="en-US" dirty="0"/>
              <a:t>Possibly </a:t>
            </a:r>
            <a:r>
              <a:rPr lang="en-US" dirty="0">
                <a:solidFill>
                  <a:srgbClr val="980002"/>
                </a:solidFill>
              </a:rPr>
              <a:t>round to fit into</a:t>
            </a:r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Modes (illustrate with $ rounding)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	$1.40	$1.60	$1.50	$2.50	–$1.50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Towards zero	$1	$1	$1	$2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down (−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	$1	$1	$1	$2	–$2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up (+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 	$2	$2	$2	$3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Nearest Even (default)	$1	$2	$2	$2	–$2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3951890" y="2782615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4953000" y="2782615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6019800" y="2782615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V="1">
            <a:off x="7010400" y="2782615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8077200" y="2782615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3951890" y="3124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V="1">
            <a:off x="4953000" y="3124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6019800" y="3124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V="1">
            <a:off x="7010400" y="3124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8077200" y="3124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3951890" y="3505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4953000" y="3505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6019800" y="3505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7010400" y="3505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V="1">
            <a:off x="8077200" y="3505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V="1">
            <a:off x="3951890" y="3886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 flipV="1">
            <a:off x="4953000" y="3886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6019800" y="3886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7010400" y="3886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8077200" y="3886200"/>
            <a:ext cx="0" cy="228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arrow" w="med" len="med"/>
            <a:tailEnd type="none"/>
          </a:ln>
          <a:effectLst/>
        </p:spPr>
      </p:cxn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Closer Look at Round-To-Even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Default Rounding Mode</a:t>
            </a:r>
          </a:p>
          <a:p>
            <a:pPr marL="552450" lvl="1"/>
            <a:r>
              <a:rPr lang="en-US" dirty="0"/>
              <a:t>Hard to get any other kind without dropping into assembly</a:t>
            </a:r>
          </a:p>
          <a:p>
            <a:pPr marL="552450" lvl="1"/>
            <a:r>
              <a:rPr lang="en-US" dirty="0"/>
              <a:t>C99 has support for rounding mode management</a:t>
            </a:r>
          </a:p>
          <a:p>
            <a:pPr marL="552450" lvl="1"/>
            <a:r>
              <a:rPr lang="en-US" dirty="0"/>
              <a:t>All others are statistically biased</a:t>
            </a:r>
          </a:p>
          <a:p>
            <a:pPr marL="838200" lvl="2"/>
            <a:r>
              <a:rPr lang="en-US" dirty="0"/>
              <a:t>Sum of set of positive numbers will consistently be over- or under- estimated</a:t>
            </a:r>
          </a:p>
          <a:p>
            <a:r>
              <a:rPr lang="en-US" dirty="0"/>
              <a:t>Applying to Other Decimal Places / Bit Positions</a:t>
            </a:r>
          </a:p>
          <a:p>
            <a:pPr marL="552450" lvl="1"/>
            <a:r>
              <a:rPr lang="en-US" dirty="0"/>
              <a:t>When exactly halfway between two possible values</a:t>
            </a:r>
          </a:p>
          <a:p>
            <a:pPr marL="838200" lvl="2"/>
            <a:r>
              <a:rPr lang="en-US" dirty="0"/>
              <a:t>Round so that least significant digit is even</a:t>
            </a:r>
          </a:p>
          <a:p>
            <a:pPr marL="552450" lvl="1"/>
            <a:r>
              <a:rPr lang="en-US" dirty="0"/>
              <a:t>E.g., round to nearest hundredth</a:t>
            </a:r>
          </a:p>
          <a:p>
            <a:pPr marL="838200" lvl="2">
              <a:buNone/>
            </a:pPr>
            <a:r>
              <a:rPr lang="en-US" dirty="0"/>
              <a:t>	7.8949999	7.89	(Less than half way)</a:t>
            </a:r>
          </a:p>
          <a:p>
            <a:pPr marL="838200" lvl="2">
              <a:buNone/>
            </a:pPr>
            <a:r>
              <a:rPr lang="en-US" dirty="0"/>
              <a:t>	7.8950001	7.90	(Greater than half way)</a:t>
            </a:r>
          </a:p>
          <a:p>
            <a:pPr marL="838200" lvl="2">
              <a:buNone/>
            </a:pPr>
            <a:r>
              <a:rPr lang="en-US" dirty="0"/>
              <a:t>	7.8950000	7.90	(</a:t>
            </a:r>
            <a:r>
              <a:rPr lang="en-US" dirty="0">
                <a:solidFill>
                  <a:srgbClr val="C00000"/>
                </a:solidFill>
              </a:rPr>
              <a:t>Half way—round up</a:t>
            </a:r>
            <a:r>
              <a:rPr lang="en-US" dirty="0"/>
              <a:t>)</a:t>
            </a:r>
          </a:p>
          <a:p>
            <a:pPr marL="838200" lvl="2">
              <a:buNone/>
            </a:pPr>
            <a:r>
              <a:rPr lang="en-US" dirty="0"/>
              <a:t>	7.8850000	7.88	(</a:t>
            </a:r>
            <a:r>
              <a:rPr lang="en-US" dirty="0">
                <a:solidFill>
                  <a:srgbClr val="C00000"/>
                </a:solidFill>
              </a:rPr>
              <a:t>Half way—round down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 Binary Numbers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Binary Fractional Numbers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“Even” when least significant bit is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endParaRPr lang="en-US" b="1" dirty="0">
              <a:latin typeface="Courier New"/>
              <a:cs typeface="Courier New"/>
            </a:endParaRP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“Half way” when bits to right of rounding position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100…</a:t>
            </a:r>
            <a:r>
              <a:rPr lang="en-US" sz="1800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</a:endParaRPr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endParaRPr lang="en-US" dirty="0"/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Examples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Round to nearest 1/4 (2 bits right of binary point)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Value	Binary	Rounded	Action	Rounded Value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3/32	10.00</a:t>
            </a:r>
            <a:r>
              <a:rPr lang="en-US" dirty="0">
                <a:solidFill>
                  <a:srgbClr val="980002"/>
                </a:solidFill>
              </a:rPr>
              <a:t>011</a:t>
            </a:r>
            <a:r>
              <a:rPr lang="en-US" baseline="-6000" dirty="0"/>
              <a:t>2</a:t>
            </a:r>
            <a:r>
              <a:rPr lang="en-US" dirty="0"/>
              <a:t>	10.00</a:t>
            </a:r>
            <a:r>
              <a:rPr lang="en-US" baseline="-6000" dirty="0"/>
              <a:t>2</a:t>
            </a:r>
            <a:r>
              <a:rPr lang="en-US" dirty="0"/>
              <a:t>	(&lt;1/2—down)	2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3/16	10.00</a:t>
            </a:r>
            <a:r>
              <a:rPr lang="en-US" dirty="0">
                <a:solidFill>
                  <a:srgbClr val="980002"/>
                </a:solidFill>
              </a:rPr>
              <a:t>110</a:t>
            </a:r>
            <a:r>
              <a:rPr lang="en-US" baseline="-6000" dirty="0"/>
              <a:t>2</a:t>
            </a:r>
            <a:r>
              <a:rPr lang="en-US" dirty="0"/>
              <a:t>	10.01</a:t>
            </a:r>
            <a:r>
              <a:rPr lang="en-US" baseline="-6000" dirty="0"/>
              <a:t>2</a:t>
            </a:r>
            <a:r>
              <a:rPr lang="en-US" dirty="0"/>
              <a:t>	(&gt;1/2—up)	2 1/4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7/8	10.11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11.0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baseline="-6000" dirty="0"/>
              <a:t>2</a:t>
            </a:r>
            <a:r>
              <a:rPr lang="en-US" dirty="0"/>
              <a:t>	(  </a:t>
            </a:r>
            <a:r>
              <a:rPr lang="en-US" dirty="0">
                <a:solidFill>
                  <a:srgbClr val="C00000"/>
                </a:solidFill>
              </a:rPr>
              <a:t>1/2—up</a:t>
            </a:r>
            <a:r>
              <a:rPr lang="en-US" dirty="0"/>
              <a:t>)	3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5/8	10.10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10.1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baseline="-6000" dirty="0"/>
              <a:t>2</a:t>
            </a:r>
            <a:r>
              <a:rPr lang="en-US" dirty="0"/>
              <a:t>	(  </a:t>
            </a:r>
            <a:r>
              <a:rPr lang="en-US" dirty="0">
                <a:solidFill>
                  <a:srgbClr val="C00000"/>
                </a:solidFill>
              </a:rPr>
              <a:t>1/2—down</a:t>
            </a:r>
            <a:r>
              <a:rPr lang="en-US" dirty="0"/>
              <a:t>)	2 1/2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609600" y="5722203"/>
            <a:ext cx="7842532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FP Multiplication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x   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r>
              <a:rPr lang="en-US" dirty="0"/>
              <a:t>Exact Result: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Sign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: 	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s1</a:t>
            </a:r>
            <a:r>
              <a:rPr lang="en-US" dirty="0"/>
              <a:t> ^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s2</a:t>
            </a:r>
            <a:endParaRPr lang="en-US" dirty="0"/>
          </a:p>
          <a:p>
            <a:pPr marL="552450" lvl="1"/>
            <a:r>
              <a:rPr lang="en-US" dirty="0" err="1"/>
              <a:t>Significand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M1</a:t>
            </a:r>
            <a:r>
              <a:rPr lang="en-US" dirty="0"/>
              <a:t> x 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M2</a:t>
            </a:r>
            <a:endParaRPr lang="en-US" dirty="0"/>
          </a:p>
          <a:p>
            <a:pPr marL="552450" lvl="1"/>
            <a:r>
              <a:rPr lang="en-US" dirty="0"/>
              <a:t>Exponent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+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r>
              <a:rPr lang="en-US" dirty="0"/>
              <a:t>Fixing</a:t>
            </a:r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right, increment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out of range, overflow </a:t>
            </a:r>
          </a:p>
          <a:p>
            <a:pPr marL="552450" lvl="1"/>
            <a:r>
              <a:rPr lang="en-US" dirty="0"/>
              <a:t>Round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to fit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precision</a:t>
            </a:r>
          </a:p>
          <a:p>
            <a:r>
              <a:rPr lang="en-US" dirty="0"/>
              <a:t>Implementation</a:t>
            </a:r>
          </a:p>
          <a:p>
            <a:pPr marL="552450" lvl="1"/>
            <a:r>
              <a:rPr lang="en-US" dirty="0"/>
              <a:t>Biggest chore is multiplying </a:t>
            </a:r>
            <a:r>
              <a:rPr lang="en-US" dirty="0" err="1"/>
              <a:t>significands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09600" y="5722203"/>
            <a:ext cx="7875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+mj-lt"/>
                <a:cs typeface="Courier New" panose="02070309020205020404" pitchFamily="49" charset="0"/>
              </a:rPr>
              <a:t>4 bit mantissa: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1.010*2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 1.110*2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= 1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.00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11*2</a:t>
            </a:r>
            <a:r>
              <a:rPr lang="en-US" sz="2400" b="1" baseline="30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algn="l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= 1.000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</a:t>
            </a:r>
            <a:r>
              <a:rPr lang="en-US" sz="2400" b="1" baseline="30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	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1.00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</a:t>
            </a:r>
            <a:r>
              <a:rPr lang="en-US" sz="2400" b="1" baseline="30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Addition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382000" cy="4343400"/>
          </a:xfrm>
          <a:ln/>
        </p:spPr>
        <p:txBody>
          <a:bodyPr/>
          <a:lstStyle/>
          <a:p>
            <a:pPr>
              <a:tabLst>
                <a:tab pos="2049463" algn="l"/>
              </a:tabLst>
            </a:pP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+   (-1)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Assume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&gt;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pPr>
              <a:tabLst>
                <a:tab pos="2049463" algn="l"/>
              </a:tabLst>
            </a:pPr>
            <a:r>
              <a:rPr lang="en-US" dirty="0"/>
              <a:t>Exact Result: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Sign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, significand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</a:t>
            </a:r>
          </a:p>
          <a:p>
            <a:pPr marL="838200" lvl="2">
              <a:tabLst>
                <a:tab pos="2049463" algn="l"/>
              </a:tabLst>
            </a:pPr>
            <a:r>
              <a:rPr lang="en-US" dirty="0"/>
              <a:t>Result of signed align &amp; add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Exponent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endParaRPr lang="en-US" dirty="0"/>
          </a:p>
          <a:p>
            <a:pPr>
              <a:tabLst>
                <a:tab pos="2049463" algn="l"/>
              </a:tabLst>
            </a:pPr>
            <a:r>
              <a:rPr lang="en-US" dirty="0"/>
              <a:t>Fixing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right, increment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&lt; 1,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left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positions, decrement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by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endParaRPr lang="en-US" dirty="0"/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Overflow 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out of range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Round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to fit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precision</a:t>
            </a:r>
          </a:p>
        </p:txBody>
      </p:sp>
      <p:sp>
        <p:nvSpPr>
          <p:cNvPr id="39941" name="Rectangle 5"/>
          <p:cNvSpPr>
            <a:spLocks/>
          </p:cNvSpPr>
          <p:nvPr/>
        </p:nvSpPr>
        <p:spPr bwMode="auto">
          <a:xfrm>
            <a:off x="5067300" y="2540000"/>
            <a:ext cx="17907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2" name="Rectangle 6"/>
          <p:cNvSpPr>
            <a:spLocks/>
          </p:cNvSpPr>
          <p:nvPr/>
        </p:nvSpPr>
        <p:spPr bwMode="auto">
          <a:xfrm>
            <a:off x="6645275" y="3086100"/>
            <a:ext cx="22225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68580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88519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6870700" y="2349500"/>
            <a:ext cx="19685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6" name="Rectangle 10"/>
          <p:cNvSpPr>
            <a:spLocks/>
          </p:cNvSpPr>
          <p:nvPr/>
        </p:nvSpPr>
        <p:spPr bwMode="auto">
          <a:xfrm>
            <a:off x="7567613" y="2119313"/>
            <a:ext cx="771045" cy="307777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E1</a:t>
            </a:r>
            <a:r>
              <a:rPr lang="en-US" sz="2000">
                <a:solidFill>
                  <a:schemeClr val="tx1"/>
                </a:solidFill>
                <a:latin typeface="Arial Narrow Bold" charset="0"/>
                <a:ea typeface="Arial Narrow Bold" charset="0"/>
                <a:cs typeface="Arial Narrow Bold" charset="0"/>
                <a:sym typeface="Arial Narrow Bold" charset="0"/>
              </a:rPr>
              <a:t>–</a:t>
            </a:r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E2</a:t>
            </a:r>
          </a:p>
        </p:txBody>
      </p:sp>
      <p:sp>
        <p:nvSpPr>
          <p:cNvPr id="39947" name="Rectangle 11"/>
          <p:cNvSpPr>
            <a:spLocks/>
          </p:cNvSpPr>
          <p:nvPr/>
        </p:nvSpPr>
        <p:spPr bwMode="auto">
          <a:xfrm>
            <a:off x="4697413" y="2949575"/>
            <a:ext cx="254877" cy="61555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4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+</a:t>
            </a: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4826000" y="3683000"/>
            <a:ext cx="40894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9" name="Rectangle 13"/>
          <p:cNvSpPr>
            <a:spLocks/>
          </p:cNvSpPr>
          <p:nvPr/>
        </p:nvSpPr>
        <p:spPr bwMode="auto">
          <a:xfrm>
            <a:off x="5067300" y="3835400"/>
            <a:ext cx="37846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800" y="1524000"/>
            <a:ext cx="3443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Get binary points lined up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09600" y="5569803"/>
            <a:ext cx="7842532" cy="98339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5646003"/>
            <a:ext cx="77444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885950" algn="l"/>
              </a:tabLst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1.010*2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+ 1.110*2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(0.1010 + 1.1100)*2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l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1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110 * 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1.001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1.010 * 2</a:t>
            </a:r>
            <a:r>
              <a:rPr lang="en-US" sz="2400" b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sz="2400" b="1" baseline="30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Properties of FP Add</a:t>
            </a:r>
          </a:p>
        </p:txBody>
      </p:sp>
      <p:sp>
        <p:nvSpPr>
          <p:cNvPr id="40968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to those of </a:t>
            </a:r>
            <a:r>
              <a:rPr lang="en-US" dirty="0" err="1"/>
              <a:t>Abelian</a:t>
            </a:r>
            <a:r>
              <a:rPr lang="en-US" dirty="0"/>
              <a:t> Group</a:t>
            </a:r>
          </a:p>
          <a:p>
            <a:pPr lvl="1"/>
            <a:r>
              <a:rPr lang="en-US" dirty="0"/>
              <a:t>Closed under addition?			</a:t>
            </a:r>
          </a:p>
          <a:p>
            <a:pPr lvl="2"/>
            <a:r>
              <a:rPr lang="en-US" dirty="0"/>
              <a:t>But may generate infinity or </a:t>
            </a:r>
            <a:r>
              <a:rPr lang="en-US" dirty="0" err="1"/>
              <a:t>NaN</a:t>
            </a:r>
            <a:endParaRPr lang="en-US" dirty="0"/>
          </a:p>
          <a:p>
            <a:pPr lvl="1"/>
            <a:r>
              <a:rPr lang="en-US" dirty="0"/>
              <a:t>Commutative? </a:t>
            </a:r>
          </a:p>
          <a:p>
            <a:pPr lvl="1"/>
            <a:r>
              <a:rPr lang="en-US" dirty="0"/>
              <a:t>Associative?</a:t>
            </a:r>
          </a:p>
          <a:p>
            <a:pPr lvl="2"/>
            <a:r>
              <a:rPr lang="en-US" dirty="0"/>
              <a:t>Overflow and inexactness of rounding</a:t>
            </a:r>
          </a:p>
          <a:p>
            <a:pPr lvl="2"/>
            <a:r>
              <a:rPr lang="en-US" b="1" dirty="0">
                <a:latin typeface="Courier New"/>
                <a:cs typeface="Courier New"/>
              </a:rPr>
              <a:t>(3.14+1e10)-1e10 = 0, 3.14+(1e10-1e10) = 3.14</a:t>
            </a:r>
          </a:p>
          <a:p>
            <a:pPr lvl="1"/>
            <a:r>
              <a:rPr lang="en-US" dirty="0"/>
              <a:t>0 is additive identity? </a:t>
            </a:r>
          </a:p>
          <a:p>
            <a:pPr lvl="1"/>
            <a:r>
              <a:rPr lang="en-US" dirty="0"/>
              <a:t>Every element has additive inverse?</a:t>
            </a:r>
          </a:p>
          <a:p>
            <a:pPr lvl="2"/>
            <a:r>
              <a:rPr lang="en-US" dirty="0"/>
              <a:t>Yes, except for infinities &amp; </a:t>
            </a:r>
            <a:r>
              <a:rPr lang="en-US" dirty="0" err="1"/>
              <a:t>NaNs</a:t>
            </a:r>
            <a:endParaRPr lang="en-US" dirty="0"/>
          </a:p>
          <a:p>
            <a:r>
              <a:rPr lang="en-US" dirty="0"/>
              <a:t>Monotonicity</a:t>
            </a:r>
          </a:p>
          <a:p>
            <a:pPr lvl="1"/>
            <a:r>
              <a:rPr lang="en-US" dirty="0">
                <a:sym typeface="Calibri Italic" charset="0"/>
              </a:rPr>
              <a:t>a</a:t>
            </a:r>
            <a:r>
              <a:rPr lang="en-US" dirty="0"/>
              <a:t> ≥ </a:t>
            </a:r>
            <a:r>
              <a:rPr lang="en-US" dirty="0">
                <a:sym typeface="Calibri Italic" charset="0"/>
              </a:rPr>
              <a:t>b</a:t>
            </a:r>
            <a:r>
              <a:rPr lang="en-US" dirty="0"/>
              <a:t> ⇒ </a:t>
            </a:r>
            <a:r>
              <a:rPr lang="en-US" dirty="0" err="1">
                <a:sym typeface="Calibri Italic" charset="0"/>
              </a:rPr>
              <a:t>a</a:t>
            </a:r>
            <a:r>
              <a:rPr lang="en-US" dirty="0" err="1"/>
              <a:t>+</a:t>
            </a:r>
            <a:r>
              <a:rPr lang="en-US" dirty="0" err="1">
                <a:sym typeface="Calibri Italic" charset="0"/>
              </a:rPr>
              <a:t>c</a:t>
            </a:r>
            <a:r>
              <a:rPr lang="en-US" dirty="0"/>
              <a:t> ≥ </a:t>
            </a:r>
            <a:r>
              <a:rPr lang="en-US" dirty="0" err="1">
                <a:sym typeface="Calibri Italic" charset="0"/>
              </a:rPr>
              <a:t>b</a:t>
            </a:r>
            <a:r>
              <a:rPr lang="en-US" dirty="0" err="1"/>
              <a:t>+</a:t>
            </a:r>
            <a:r>
              <a:rPr lang="en-US" dirty="0" err="1">
                <a:sym typeface="Calibri Italic" charset="0"/>
              </a:rPr>
              <a:t>c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Except for infinities &amp; </a:t>
            </a:r>
            <a:r>
              <a:rPr lang="en-US" dirty="0" err="1"/>
              <a:t>NaNs</a:t>
            </a:r>
            <a:endParaRPr lang="en-US" dirty="0"/>
          </a:p>
        </p:txBody>
      </p:sp>
      <p:sp>
        <p:nvSpPr>
          <p:cNvPr id="40969" name="Rectangle 9"/>
          <p:cNvSpPr>
            <a:spLocks/>
          </p:cNvSpPr>
          <p:nvPr/>
        </p:nvSpPr>
        <p:spPr bwMode="auto">
          <a:xfrm>
            <a:off x="5465763" y="17907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0" name="Rectangle 10"/>
          <p:cNvSpPr>
            <a:spLocks/>
          </p:cNvSpPr>
          <p:nvPr/>
        </p:nvSpPr>
        <p:spPr bwMode="auto">
          <a:xfrm>
            <a:off x="5468938" y="25146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1" name="Rectangle 11"/>
          <p:cNvSpPr>
            <a:spLocks/>
          </p:cNvSpPr>
          <p:nvPr/>
        </p:nvSpPr>
        <p:spPr bwMode="auto">
          <a:xfrm>
            <a:off x="5486400" y="39624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0972" name="Rectangle 12"/>
          <p:cNvSpPr>
            <a:spLocks/>
          </p:cNvSpPr>
          <p:nvPr/>
        </p:nvSpPr>
        <p:spPr bwMode="auto">
          <a:xfrm>
            <a:off x="5465763" y="28829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0973" name="Rectangle 13"/>
          <p:cNvSpPr>
            <a:spLocks/>
          </p:cNvSpPr>
          <p:nvPr/>
        </p:nvSpPr>
        <p:spPr bwMode="auto">
          <a:xfrm>
            <a:off x="5486400" y="43434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  <p:sp>
        <p:nvSpPr>
          <p:cNvPr id="40974" name="Rectangle 14"/>
          <p:cNvSpPr>
            <a:spLocks/>
          </p:cNvSpPr>
          <p:nvPr/>
        </p:nvSpPr>
        <p:spPr bwMode="auto">
          <a:xfrm>
            <a:off x="5486400" y="55626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Mathematical Properties of FP Mult</a:t>
            </a:r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Compare to Commutative Ring</a:t>
            </a:r>
          </a:p>
          <a:p>
            <a:pPr marL="552450" lvl="1"/>
            <a:r>
              <a:rPr lang="en-US" dirty="0"/>
              <a:t>Closed under multiplication?</a:t>
            </a:r>
          </a:p>
          <a:p>
            <a:pPr marL="838200" lvl="2"/>
            <a:r>
              <a:rPr lang="en-US" dirty="0"/>
              <a:t>But may generate infinity or </a:t>
            </a:r>
            <a:r>
              <a:rPr lang="en-US" dirty="0" err="1"/>
              <a:t>NaN</a:t>
            </a:r>
            <a:endParaRPr lang="en-US" dirty="0"/>
          </a:p>
          <a:p>
            <a:pPr marL="552450" lvl="1"/>
            <a:r>
              <a:rPr lang="en-US" dirty="0"/>
              <a:t>Multiplication Commutative?</a:t>
            </a:r>
          </a:p>
          <a:p>
            <a:pPr marL="552450" lvl="1"/>
            <a:r>
              <a:rPr lang="en-US" dirty="0"/>
              <a:t>Multiplication is Associative?</a:t>
            </a:r>
          </a:p>
          <a:p>
            <a:pPr marL="838200" lvl="2"/>
            <a:r>
              <a:rPr lang="en-US" dirty="0"/>
              <a:t>Possibility of overflow, inexactness of rounding</a:t>
            </a:r>
          </a:p>
          <a:p>
            <a:pPr marL="838200" lvl="2"/>
            <a:r>
              <a:rPr lang="en-US" dirty="0"/>
              <a:t>Ex: </a:t>
            </a:r>
            <a:r>
              <a:rPr lang="en-US" b="1" dirty="0">
                <a:latin typeface="Courier New"/>
              </a:rPr>
              <a:t>(1e20*1e20)*1e-20</a:t>
            </a:r>
            <a:r>
              <a:rPr lang="en-US" b="1" dirty="0"/>
              <a:t>= </a:t>
            </a:r>
            <a:r>
              <a:rPr lang="en-US" b="1" dirty="0" err="1">
                <a:latin typeface="Courier New"/>
                <a:cs typeface="Courier New"/>
              </a:rPr>
              <a:t>inf</a:t>
            </a:r>
            <a:r>
              <a:rPr lang="en-US" b="1" dirty="0"/>
              <a:t>, </a:t>
            </a:r>
            <a:r>
              <a:rPr lang="en-US" b="1" dirty="0">
                <a:latin typeface="Courier New"/>
                <a:cs typeface="Courier New"/>
              </a:rPr>
              <a:t>1e20*(1e20*1e-20)</a:t>
            </a:r>
            <a:r>
              <a:rPr lang="en-US" b="1" dirty="0"/>
              <a:t>= </a:t>
            </a:r>
            <a:r>
              <a:rPr lang="en-US" b="1" dirty="0">
                <a:latin typeface="Courier New"/>
                <a:cs typeface="Courier New"/>
              </a:rPr>
              <a:t>1e20</a:t>
            </a:r>
          </a:p>
          <a:p>
            <a:pPr marL="552450" lvl="1"/>
            <a:r>
              <a:rPr lang="en-US" dirty="0"/>
              <a:t>1 is multiplicative identity?</a:t>
            </a:r>
          </a:p>
          <a:p>
            <a:pPr marL="552450" lvl="1"/>
            <a:r>
              <a:rPr lang="en-US" dirty="0"/>
              <a:t>Multiplication distributes over addition?</a:t>
            </a:r>
          </a:p>
          <a:p>
            <a:pPr marL="838200" lvl="2"/>
            <a:r>
              <a:rPr lang="en-US" dirty="0"/>
              <a:t>Possibility of overflow, inexactness of rounding</a:t>
            </a:r>
          </a:p>
          <a:p>
            <a:pPr marL="838200" lvl="2"/>
            <a:r>
              <a:rPr lang="en-US" b="1" dirty="0">
                <a:latin typeface="Courier New"/>
                <a:cs typeface="Courier New"/>
              </a:rPr>
              <a:t>1e20*(1e20-1e20)</a:t>
            </a:r>
            <a:r>
              <a:rPr lang="en-US" b="1" dirty="0"/>
              <a:t>= </a:t>
            </a:r>
            <a:r>
              <a:rPr lang="en-US" b="1" dirty="0">
                <a:latin typeface="Courier New"/>
                <a:cs typeface="Courier New"/>
              </a:rPr>
              <a:t>0.0</a:t>
            </a:r>
            <a:r>
              <a:rPr lang="en-US" b="1" dirty="0"/>
              <a:t>,  </a:t>
            </a:r>
            <a:r>
              <a:rPr lang="en-US" b="1" dirty="0">
                <a:latin typeface="Courier New"/>
                <a:cs typeface="Courier New"/>
              </a:rPr>
              <a:t>1e20*1e20 – 1e20*1e20 </a:t>
            </a:r>
            <a:r>
              <a:rPr lang="en-US" b="1" dirty="0"/>
              <a:t>= </a:t>
            </a:r>
            <a:r>
              <a:rPr lang="en-US" b="1" dirty="0" err="1">
                <a:latin typeface="Courier New"/>
                <a:cs typeface="Courier New"/>
              </a:rPr>
              <a:t>NaN</a:t>
            </a:r>
            <a:endParaRPr lang="en-US" b="1" dirty="0">
              <a:latin typeface="Courier New"/>
              <a:cs typeface="Courier New"/>
            </a:endParaRPr>
          </a:p>
          <a:p>
            <a:pPr marL="431800" indent="-342900"/>
            <a:r>
              <a:rPr lang="en-US" dirty="0"/>
              <a:t>Monotonicity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 &amp;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0  ⇒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a</a:t>
            </a:r>
            <a:r>
              <a:rPr lang="en-US" dirty="0"/>
              <a:t> *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 ≥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</a:t>
            </a:r>
            <a:r>
              <a:rPr lang="en-US" dirty="0"/>
              <a:t> *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c</a:t>
            </a:r>
            <a:r>
              <a:rPr lang="en-US" dirty="0"/>
              <a:t>?</a:t>
            </a:r>
          </a:p>
          <a:p>
            <a:pPr marL="838200" lvl="2"/>
            <a:r>
              <a:rPr lang="en-US" dirty="0"/>
              <a:t>Except for infinities &amp; </a:t>
            </a:r>
            <a:r>
              <a:rPr lang="en-US" dirty="0" err="1"/>
              <a:t>NaNs</a:t>
            </a:r>
            <a:endParaRPr lang="en-US" dirty="0"/>
          </a:p>
        </p:txBody>
      </p:sp>
      <p:sp>
        <p:nvSpPr>
          <p:cNvPr id="41993" name="Rectangle 9"/>
          <p:cNvSpPr>
            <a:spLocks/>
          </p:cNvSpPr>
          <p:nvPr/>
        </p:nvSpPr>
        <p:spPr bwMode="auto">
          <a:xfrm>
            <a:off x="6303963" y="17907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4" name="Rectangle 10"/>
          <p:cNvSpPr>
            <a:spLocks/>
          </p:cNvSpPr>
          <p:nvPr/>
        </p:nvSpPr>
        <p:spPr bwMode="auto">
          <a:xfrm>
            <a:off x="6303963" y="2522538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5" name="Rectangle 11"/>
          <p:cNvSpPr>
            <a:spLocks/>
          </p:cNvSpPr>
          <p:nvPr/>
        </p:nvSpPr>
        <p:spPr bwMode="auto">
          <a:xfrm>
            <a:off x="6303963" y="28956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6" name="Rectangle 12"/>
          <p:cNvSpPr>
            <a:spLocks/>
          </p:cNvSpPr>
          <p:nvPr/>
        </p:nvSpPr>
        <p:spPr bwMode="auto">
          <a:xfrm>
            <a:off x="6303963" y="3975100"/>
            <a:ext cx="49371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Yes</a:t>
            </a:r>
          </a:p>
        </p:txBody>
      </p:sp>
      <p:sp>
        <p:nvSpPr>
          <p:cNvPr id="41997" name="Rectangle 13"/>
          <p:cNvSpPr>
            <a:spLocks/>
          </p:cNvSpPr>
          <p:nvPr/>
        </p:nvSpPr>
        <p:spPr bwMode="auto">
          <a:xfrm>
            <a:off x="6303963" y="4343400"/>
            <a:ext cx="449262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No</a:t>
            </a:r>
          </a:p>
        </p:txBody>
      </p:sp>
      <p:sp>
        <p:nvSpPr>
          <p:cNvPr id="41998" name="Rectangle 14"/>
          <p:cNvSpPr>
            <a:spLocks/>
          </p:cNvSpPr>
          <p:nvPr/>
        </p:nvSpPr>
        <p:spPr bwMode="auto">
          <a:xfrm>
            <a:off x="6324600" y="5791200"/>
            <a:ext cx="9763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Almost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in C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 Guarantees Two Levels</a:t>
            </a:r>
          </a:p>
          <a:p>
            <a:pPr marL="573088" lvl="1" indent="-255588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	single precision</a:t>
            </a:r>
          </a:p>
          <a:p>
            <a:pPr marL="573088" lvl="1" indent="-255588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	double precision</a:t>
            </a:r>
          </a:p>
          <a:p>
            <a:pPr>
              <a:spcBef>
                <a:spcPts val="1600"/>
              </a:spcBef>
            </a:pPr>
            <a:r>
              <a:rPr lang="en-US" dirty="0"/>
              <a:t>Conversions/Casting</a:t>
            </a:r>
          </a:p>
          <a:p>
            <a:pPr marL="317500" lvl="1" indent="0"/>
            <a:r>
              <a:rPr lang="en-US" dirty="0"/>
              <a:t> Casting between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, and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 changes bit representation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/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 →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endParaRPr lang="en-US" dirty="0"/>
          </a:p>
          <a:p>
            <a:pPr marL="838200" lvl="2"/>
            <a:r>
              <a:rPr lang="en-US" dirty="0"/>
              <a:t>Truncates fractional part</a:t>
            </a:r>
          </a:p>
          <a:p>
            <a:pPr marL="838200" lvl="2"/>
            <a:r>
              <a:rPr lang="en-US" dirty="0"/>
              <a:t>Like rounding toward zero</a:t>
            </a:r>
          </a:p>
          <a:p>
            <a:pPr marL="838200" lvl="2"/>
            <a:r>
              <a:rPr lang="en-US" dirty="0"/>
              <a:t>Not defined when out of range or </a:t>
            </a:r>
            <a:r>
              <a:rPr lang="en-US" dirty="0" err="1"/>
              <a:t>NaN</a:t>
            </a:r>
            <a:r>
              <a:rPr lang="en-US" dirty="0"/>
              <a:t>: Generally sets to </a:t>
            </a:r>
            <a:r>
              <a:rPr lang="en-US" dirty="0" err="1"/>
              <a:t>TMin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endParaRPr lang="en-US" dirty="0"/>
          </a:p>
          <a:p>
            <a:pPr marL="838200" lvl="2"/>
            <a:r>
              <a:rPr lang="en-US" dirty="0"/>
              <a:t>Exact conversion, as long as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has ≤ 53 bit word size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endParaRPr lang="en-US" dirty="0"/>
          </a:p>
          <a:p>
            <a:pPr marL="838200" lvl="2"/>
            <a:r>
              <a:rPr lang="en-US" dirty="0"/>
              <a:t>Will round according to rounding mode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Puzzles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1270000"/>
          </a:xfrm>
          <a:ln/>
        </p:spPr>
        <p:txBody>
          <a:bodyPr/>
          <a:lstStyle/>
          <a:p>
            <a:r>
              <a:rPr lang="en-US"/>
              <a:t>For each of the following C expressions, either:</a:t>
            </a:r>
          </a:p>
          <a:p>
            <a:pPr marL="552450" lvl="1"/>
            <a:r>
              <a:rPr lang="en-US"/>
              <a:t>Argue that it is true for all argument values</a:t>
            </a:r>
          </a:p>
          <a:p>
            <a:pPr marL="552450" lvl="1"/>
            <a:r>
              <a:rPr lang="en-US"/>
              <a:t>Explain why not true</a:t>
            </a:r>
          </a:p>
        </p:txBody>
      </p:sp>
      <p:sp>
        <p:nvSpPr>
          <p:cNvPr id="45061" name="Rectangle 5"/>
          <p:cNvSpPr>
            <a:spLocks/>
          </p:cNvSpPr>
          <p:nvPr/>
        </p:nvSpPr>
        <p:spPr bwMode="auto">
          <a:xfrm>
            <a:off x="3736975" y="2446338"/>
            <a:ext cx="4889500" cy="40767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)(float)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)(double)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(float)(double) f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== (double)(float) 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-(-f);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2/3 == 2/3.0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&lt; 0.0	 ⇒ 	((d*2) &lt; 0.0)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&gt; f	 ⇒ 	-f &gt; -d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* d &gt;= 0.0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d+f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)-d == f</a:t>
            </a:r>
          </a:p>
        </p:txBody>
      </p:sp>
      <p:sp>
        <p:nvSpPr>
          <p:cNvPr id="45062" name="Rectangle 6"/>
          <p:cNvSpPr>
            <a:spLocks/>
          </p:cNvSpPr>
          <p:nvPr/>
        </p:nvSpPr>
        <p:spPr bwMode="auto">
          <a:xfrm>
            <a:off x="522288" y="3271838"/>
            <a:ext cx="2628900" cy="1155700"/>
          </a:xfrm>
          <a:prstGeom prst="rect">
            <a:avLst/>
          </a:prstGeom>
          <a:solidFill>
            <a:srgbClr val="D6D6F4"/>
          </a:solidFill>
          <a:ln w="25400" cap="flat">
            <a:solidFill>
              <a:srgbClr val="ADADE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x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float f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d = …;</a:t>
            </a:r>
          </a:p>
        </p:txBody>
      </p:sp>
      <p:sp>
        <p:nvSpPr>
          <p:cNvPr id="45063" name="Rectangle 7"/>
          <p:cNvSpPr>
            <a:spLocks/>
          </p:cNvSpPr>
          <p:nvPr/>
        </p:nvSpPr>
        <p:spPr bwMode="auto">
          <a:xfrm>
            <a:off x="457200" y="4581525"/>
            <a:ext cx="1704975" cy="698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Assume neither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nor 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is NaN</a:t>
            </a:r>
          </a:p>
        </p:txBody>
      </p:sp>
      <p:pic>
        <p:nvPicPr>
          <p:cNvPr id="7" name="Picture 4" descr="https://upload.wikimedia.org/wikipedia/commons/thumb/b/ba/Red_x.svg/1024px-Red_x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34" y="2479349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2833298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3182899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upload.wikimedia.org/wikipedia/commons/thumb/b/ba/Red_x.svg/1024px-Red_x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34" y="35325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3886449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upload.wikimedia.org/wikipedia/commons/thumb/b/ba/Red_x.svg/1024px-Red_x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34" y="42360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4589999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4939600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Thumbnail for version as of 20:40, 31 January 2008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4008" y="5289201"/>
            <a:ext cx="224252" cy="22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https://upload.wikimedia.org/wikipedia/commons/thumb/b/ba/Red_x.svg/1024px-Red_x.svg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34" y="56388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343400" y="4800600"/>
            <a:ext cx="4267200" cy="1752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Summary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IEEE Floating Point has clear mathematical  properties</a:t>
            </a:r>
          </a:p>
          <a:p>
            <a:r>
              <a:rPr lang="en-US"/>
              <a:t>Represents numbers of form M x 2</a:t>
            </a:r>
            <a:r>
              <a:rPr lang="en-US" baseline="32000"/>
              <a:t>E</a:t>
            </a:r>
            <a:endParaRPr lang="en-US"/>
          </a:p>
          <a:p>
            <a:r>
              <a:rPr lang="en-US"/>
              <a:t>One can reason about operations independent of implementation</a:t>
            </a:r>
          </a:p>
          <a:p>
            <a:pPr marL="552450" lvl="1"/>
            <a:r>
              <a:rPr lang="en-US"/>
              <a:t>As if computed with perfect precision and then rounded</a:t>
            </a:r>
          </a:p>
          <a:p>
            <a:r>
              <a:rPr lang="en-US"/>
              <a:t>Not the same as real arithmetic</a:t>
            </a:r>
          </a:p>
          <a:p>
            <a:pPr marL="552450" lvl="1"/>
            <a:r>
              <a:rPr lang="en-US"/>
              <a:t>Violates associativity/distributivity</a:t>
            </a:r>
          </a:p>
          <a:p>
            <a:pPr marL="552450" lvl="1"/>
            <a:r>
              <a:rPr lang="en-US"/>
              <a:t>Makes life difficult for compilers &amp; serious numerical applications programmers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6" b="38932"/>
          <a:stretch/>
        </p:blipFill>
        <p:spPr bwMode="auto">
          <a:xfrm>
            <a:off x="4492140" y="4800600"/>
            <a:ext cx="3875305" cy="1598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1905000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how rounding 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1480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Creating Floating Point Number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Steps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Normalize to have leading 1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Round to fit within fraction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 err="1"/>
              <a:t>Postnormalize</a:t>
            </a:r>
            <a:r>
              <a:rPr lang="en-US" dirty="0"/>
              <a:t> to deal with effects of rounding</a:t>
            </a: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Case Study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Convert 8-bit unsigned numbers to tiny floating point format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dirty="0"/>
              <a:t>Example Numbers</a:t>
            </a: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33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35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138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28800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829690"/>
              </p:ext>
            </p:extLst>
          </p:nvPr>
        </p:nvGraphicFramePr>
        <p:xfrm>
          <a:off x="4686300" y="14097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35654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Normalize</a:t>
            </a:r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Requirement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Set binary point so that numbers of form 1.xxxxx</a:t>
            </a:r>
          </a:p>
          <a:p>
            <a:pPr marL="552450" lvl="1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Adjust all to have leading one</a:t>
            </a:r>
          </a:p>
          <a:p>
            <a:pPr marL="838200" lvl="2">
              <a:tabLst>
                <a:tab pos="1774825" algn="l"/>
                <a:tab pos="3511550" algn="l"/>
                <a:tab pos="5340350" algn="l"/>
              </a:tabLst>
            </a:pPr>
            <a:r>
              <a:rPr lang="en-US" dirty="0"/>
              <a:t>Decrement exponent as shift left</a:t>
            </a: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Binary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Exponent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00001101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1.1010000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00010011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1.0011000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1.0001010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774825" algn="l"/>
                <a:tab pos="3511550" algn="l"/>
                <a:tab pos="5340350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00111111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1.1111100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  <p:graphicFrame>
        <p:nvGraphicFramePr>
          <p:cNvPr id="5018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861857"/>
              </p:ext>
            </p:extLst>
          </p:nvPr>
        </p:nvGraphicFramePr>
        <p:xfrm>
          <a:off x="4279900" y="635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01675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Rounding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844800"/>
            <a:ext cx="8382000" cy="3987800"/>
          </a:xfrm>
          <a:ln/>
        </p:spPr>
        <p:txBody>
          <a:bodyPr/>
          <a:lstStyle/>
          <a:p>
            <a:pPr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/>
              <a:t>Round up conditions</a:t>
            </a:r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ea typeface="Zapf Dingbats" charset="0"/>
                <a:cs typeface="Zapf Dingbats" charset="0"/>
              </a:rPr>
              <a:t>Round = 1, Sticky = 1 ➙ &gt; 0.5</a:t>
            </a:r>
            <a:endParaRPr lang="en-US" dirty="0"/>
          </a:p>
          <a:p>
            <a:pPr marL="552450" lvl="1"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ea typeface="Zapf Dingbats" charset="0"/>
                <a:cs typeface="Zapf Dingbats" charset="0"/>
              </a:rPr>
              <a:t>Guard = 1, Round = 1, Sticky = 0 ➙ Round to even</a:t>
            </a:r>
            <a:endParaRPr lang="en-US" dirty="0"/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Fraction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GRS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Incr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?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1.101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17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N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19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1.010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1.000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010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1.001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682750" algn="l"/>
                <a:tab pos="3603625" algn="l"/>
                <a:tab pos="4425950" algn="l"/>
                <a:tab pos="5432425" algn="l"/>
              </a:tabLst>
            </a:pP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 63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1.111</a:t>
            </a:r>
            <a:r>
              <a:rPr lang="en-US" sz="1800" b="1" dirty="0">
                <a:solidFill>
                  <a:srgbClr val="980002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100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Y</a:t>
            </a:r>
            <a:r>
              <a:rPr lang="en-US" sz="1800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endParaRPr lang="en-US" sz="1800" b="1" dirty="0">
              <a:latin typeface="Courier New"/>
              <a:cs typeface="Courier New"/>
              <a:sym typeface="Monaco" charset="0"/>
            </a:endParaRPr>
          </a:p>
        </p:txBody>
      </p:sp>
      <p:sp>
        <p:nvSpPr>
          <p:cNvPr id="51205" name="Rectangle 5"/>
          <p:cNvSpPr>
            <a:spLocks/>
          </p:cNvSpPr>
          <p:nvPr/>
        </p:nvSpPr>
        <p:spPr bwMode="auto">
          <a:xfrm>
            <a:off x="3745618" y="698500"/>
            <a:ext cx="2570340" cy="630942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1.BBG</a:t>
            </a:r>
            <a:r>
              <a:rPr lang="en-US" sz="3600" b="1" dirty="0">
                <a:solidFill>
                  <a:srgbClr val="CC0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R</a:t>
            </a:r>
            <a:r>
              <a:rPr lang="en-US" sz="3600" b="1" dirty="0">
                <a:solidFill>
                  <a:srgbClr val="008000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XXX</a:t>
            </a:r>
          </a:p>
        </p:txBody>
      </p:sp>
      <p:sp>
        <p:nvSpPr>
          <p:cNvPr id="51206" name="Rectangle 6"/>
          <p:cNvSpPr>
            <a:spLocks/>
          </p:cNvSpPr>
          <p:nvPr/>
        </p:nvSpPr>
        <p:spPr bwMode="auto">
          <a:xfrm>
            <a:off x="144463" y="1450975"/>
            <a:ext cx="3060700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Guard bit: LSB of result</a:t>
            </a:r>
          </a:p>
        </p:txBody>
      </p:sp>
      <p:sp>
        <p:nvSpPr>
          <p:cNvPr id="51207" name="Rectangle 7"/>
          <p:cNvSpPr>
            <a:spLocks/>
          </p:cNvSpPr>
          <p:nvPr/>
        </p:nvSpPr>
        <p:spPr bwMode="auto">
          <a:xfrm>
            <a:off x="669925" y="2149475"/>
            <a:ext cx="3389313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Round bit: 1</a:t>
            </a:r>
            <a:r>
              <a:rPr lang="en-US" sz="2400" baseline="30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</a:t>
            </a:r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bit removed</a:t>
            </a:r>
          </a:p>
        </p:txBody>
      </p:sp>
      <p:sp>
        <p:nvSpPr>
          <p:cNvPr id="51208" name="AutoShape 8"/>
          <p:cNvSpPr>
            <a:spLocks/>
          </p:cNvSpPr>
          <p:nvPr/>
        </p:nvSpPr>
        <p:spPr bwMode="auto">
          <a:xfrm rot="-5400000">
            <a:off x="5708650" y="1084263"/>
            <a:ext cx="381000" cy="7747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005"/>
                  <a:pt x="10800" y="18036"/>
                </a:cubicBezTo>
                <a:lnTo>
                  <a:pt x="10800" y="14364"/>
                </a:lnTo>
                <a:cubicBezTo>
                  <a:pt x="10800" y="12395"/>
                  <a:pt x="5965" y="10800"/>
                  <a:pt x="0" y="10800"/>
                </a:cubicBezTo>
                <a:cubicBezTo>
                  <a:pt x="5965" y="10800"/>
                  <a:pt x="10800" y="9204"/>
                  <a:pt x="10800" y="7236"/>
                </a:cubicBezTo>
                <a:lnTo>
                  <a:pt x="10800" y="3564"/>
                </a:lnTo>
                <a:cubicBezTo>
                  <a:pt x="10800" y="1596"/>
                  <a:pt x="15635" y="0"/>
                  <a:pt x="21600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09" name="Rectangle 9"/>
          <p:cNvSpPr>
            <a:spLocks/>
          </p:cNvSpPr>
          <p:nvPr/>
        </p:nvSpPr>
        <p:spPr bwMode="auto">
          <a:xfrm>
            <a:off x="5026025" y="1798638"/>
            <a:ext cx="3983038" cy="444500"/>
          </a:xfrm>
          <a:prstGeom prst="rect">
            <a:avLst/>
          </a:prstGeom>
          <a:noFill/>
          <a:ln w="1905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Sticky bit: OR of remaining bits</a:t>
            </a:r>
          </a:p>
        </p:txBody>
      </p:sp>
      <p:sp>
        <p:nvSpPr>
          <p:cNvPr id="51210" name="Freeform 10"/>
          <p:cNvSpPr>
            <a:spLocks/>
          </p:cNvSpPr>
          <p:nvPr/>
        </p:nvSpPr>
        <p:spPr bwMode="auto">
          <a:xfrm>
            <a:off x="4064000" y="1258888"/>
            <a:ext cx="1231900" cy="1090612"/>
          </a:xfrm>
          <a:custGeom>
            <a:avLst/>
            <a:gdLst/>
            <a:ahLst/>
            <a:cxnLst>
              <a:cxn ang="0">
                <a:pos x="0" y="19500"/>
              </a:cxn>
              <a:cxn ang="0">
                <a:pos x="21380" y="3812"/>
              </a:cxn>
              <a:cxn ang="0">
                <a:pos x="21159" y="628"/>
              </a:cxn>
            </a:cxnLst>
            <a:rect l="0" t="0" r="r" b="b"/>
            <a:pathLst>
              <a:path w="21381" h="19500">
                <a:moveTo>
                  <a:pt x="0" y="19500"/>
                </a:moveTo>
                <a:cubicBezTo>
                  <a:pt x="0" y="19500"/>
                  <a:pt x="21600" y="9723"/>
                  <a:pt x="21380" y="3812"/>
                </a:cubicBezTo>
                <a:cubicBezTo>
                  <a:pt x="21159" y="-2100"/>
                  <a:pt x="21159" y="628"/>
                  <a:pt x="21159" y="628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Freeform 11"/>
          <p:cNvSpPr>
            <a:spLocks/>
          </p:cNvSpPr>
          <p:nvPr/>
        </p:nvSpPr>
        <p:spPr bwMode="auto">
          <a:xfrm>
            <a:off x="3251200" y="1320800"/>
            <a:ext cx="1790700" cy="596900"/>
          </a:xfrm>
          <a:custGeom>
            <a:avLst/>
            <a:gdLst/>
            <a:ahLst/>
            <a:cxnLst>
              <a:cxn ang="0">
                <a:pos x="0" y="12462"/>
              </a:cxn>
              <a:cxn ang="0">
                <a:pos x="11949" y="19108"/>
              </a:cxn>
              <a:cxn ang="0">
                <a:pos x="21600" y="4154"/>
              </a:cxn>
              <a:cxn ang="0">
                <a:pos x="21447" y="0"/>
              </a:cxn>
            </a:cxnLst>
            <a:rect l="0" t="0" r="r" b="b"/>
            <a:pathLst>
              <a:path w="21600" h="19538">
                <a:moveTo>
                  <a:pt x="0" y="12462"/>
                </a:moveTo>
                <a:cubicBezTo>
                  <a:pt x="0" y="12462"/>
                  <a:pt x="5668" y="21600"/>
                  <a:pt x="11949" y="19108"/>
                </a:cubicBezTo>
                <a:cubicBezTo>
                  <a:pt x="18230" y="16615"/>
                  <a:pt x="21600" y="4985"/>
                  <a:pt x="21600" y="4154"/>
                </a:cubicBezTo>
                <a:cubicBezTo>
                  <a:pt x="21600" y="3323"/>
                  <a:pt x="21447" y="0"/>
                  <a:pt x="21447" y="0"/>
                </a:cubicBezTo>
              </a:path>
            </a:pathLst>
          </a:cu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23943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Postnormalize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Issue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Rounding may have caused overflow</a:t>
            </a:r>
          </a:p>
          <a:p>
            <a:pPr marL="552450" lvl="1"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/>
              <a:t>Handle by shifting right once &amp; incrementing exponent</a:t>
            </a: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Value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Rounded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Adjusted</a:t>
            </a:r>
            <a:r>
              <a:rPr lang="en-US" dirty="0"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Numeric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Result</a:t>
            </a:r>
            <a:endParaRPr lang="en-US" dirty="0"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128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128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1.101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15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16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19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1.010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20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138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1.001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7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134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</a:p>
          <a:p>
            <a:pPr marL="552450" lvl="1">
              <a:buNone/>
              <a:tabLst>
                <a:tab pos="1866900" algn="l"/>
                <a:tab pos="3511550" algn="l"/>
                <a:tab pos="4335463" algn="l"/>
                <a:tab pos="5981700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  <a:tab pos="1866900" algn="l"/>
                <a:tab pos="3603625" algn="l"/>
                <a:tab pos="4335463" algn="l"/>
                <a:tab pos="6072188" algn="l"/>
              </a:tabLst>
            </a:pP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 63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10.000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5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1.000/6</a:t>
            </a:r>
            <a:r>
              <a:rPr lang="en-US" b="1" dirty="0">
                <a:latin typeface="Courier New"/>
                <a:cs typeface="Courier New"/>
                <a:sym typeface="Monaco" charset="0"/>
              </a:rPr>
              <a:t>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 64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52112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Additional Slides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8382000" cy="622300"/>
          </a:xfrm>
          <a:ln/>
        </p:spPr>
        <p:txBody>
          <a:bodyPr/>
          <a:lstStyle/>
          <a:p>
            <a:pPr marL="119063" indent="-119063"/>
            <a:r>
              <a:rPr lang="en-US"/>
              <a:t>Interesting Numbers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965200"/>
            <a:ext cx="8382000" cy="5867400"/>
          </a:xfrm>
          <a:ln/>
        </p:spPr>
        <p:txBody>
          <a:bodyPr/>
          <a:lstStyle/>
          <a:p>
            <a:pPr>
              <a:buNone/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i="1" dirty="0"/>
              <a:t>Description	exp	</a:t>
            </a:r>
            <a:r>
              <a:rPr lang="en-US" sz="2000" i="1" dirty="0" err="1"/>
              <a:t>frac</a:t>
            </a:r>
            <a:r>
              <a:rPr lang="en-US" sz="2000" i="1" dirty="0"/>
              <a:t>	Numeric Value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Zero	00…00	00…00	0.0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</a:t>
            </a:r>
            <a:r>
              <a:rPr lang="en-US" sz="2000" dirty="0" err="1"/>
              <a:t>Denorm</a:t>
            </a:r>
            <a:r>
              <a:rPr lang="en-US" sz="2000" dirty="0"/>
              <a:t>.	00…00	00…01	2</a:t>
            </a:r>
            <a:r>
              <a:rPr lang="en-US" sz="2000" baseline="32000" dirty="0"/>
              <a:t>– {23,52}</a:t>
            </a:r>
            <a:r>
              <a:rPr lang="en-US" sz="2000" dirty="0"/>
              <a:t>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1.4 x 10</a:t>
            </a:r>
            <a:r>
              <a:rPr lang="en-US" sz="1800" baseline="32000" dirty="0"/>
              <a:t>–45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4.9 x 10</a:t>
            </a:r>
            <a:r>
              <a:rPr lang="en-US" sz="1800" baseline="32000" dirty="0"/>
              <a:t>–324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Largest </a:t>
            </a:r>
            <a:r>
              <a:rPr lang="en-US" sz="2000" dirty="0" err="1"/>
              <a:t>Denormalized</a:t>
            </a:r>
            <a:r>
              <a:rPr lang="en-US" sz="2000" dirty="0"/>
              <a:t>	00…00	11…11	(1.0 – ε)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1.18 x 10</a:t>
            </a:r>
            <a:r>
              <a:rPr lang="en-US" sz="1800" baseline="32000" dirty="0"/>
              <a:t>–38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2.2 x 10</a:t>
            </a:r>
            <a:r>
              <a:rPr lang="en-US" sz="1800" baseline="32000" dirty="0"/>
              <a:t>–308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Smallest Pos. Normalized	00…01	00…00	1.0 x 2</a:t>
            </a:r>
            <a:r>
              <a:rPr lang="en-US" sz="2000" baseline="32000" dirty="0"/>
              <a:t>– {126,1022}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Just larger than largest </a:t>
            </a:r>
            <a:r>
              <a:rPr lang="en-US" sz="1800" dirty="0" err="1"/>
              <a:t>denormalized</a:t>
            </a:r>
            <a:endParaRPr lang="en-US" sz="1800" dirty="0"/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One	01…11	00…00	1.0</a:t>
            </a:r>
          </a:p>
          <a:p>
            <a:pPr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2000" dirty="0"/>
              <a:t> Largest Normalized	11…10	11…11	(2.0 – ε) x 2</a:t>
            </a:r>
            <a:r>
              <a:rPr lang="en-US" sz="2000" baseline="32000" dirty="0"/>
              <a:t>{127,1023}</a:t>
            </a:r>
            <a:endParaRPr lang="en-US" sz="20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Single ≈ 3.4 x 10</a:t>
            </a:r>
            <a:r>
              <a:rPr lang="en-US" sz="1800" baseline="32000" dirty="0"/>
              <a:t>38</a:t>
            </a:r>
            <a:endParaRPr lang="en-US" sz="1800" dirty="0"/>
          </a:p>
          <a:p>
            <a:pPr marL="552450" lvl="1">
              <a:tabLst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  <a:tab pos="3511550" algn="l"/>
                <a:tab pos="4518025" algn="l"/>
                <a:tab pos="5707063" algn="l"/>
              </a:tabLst>
            </a:pPr>
            <a:r>
              <a:rPr lang="en-US" sz="1800" dirty="0"/>
              <a:t>Double ≈ 1.8 x 10</a:t>
            </a:r>
            <a:r>
              <a:rPr lang="en-US" sz="1800" baseline="32000" dirty="0"/>
              <a:t>308</a:t>
            </a:r>
          </a:p>
        </p:txBody>
      </p:sp>
      <p:sp>
        <p:nvSpPr>
          <p:cNvPr id="31749" name="Rectangle 5"/>
          <p:cNvSpPr>
            <a:spLocks/>
          </p:cNvSpPr>
          <p:nvPr/>
        </p:nvSpPr>
        <p:spPr bwMode="auto">
          <a:xfrm>
            <a:off x="5753100" y="414338"/>
            <a:ext cx="2819400" cy="4572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{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single,double</a:t>
            </a: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}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</TotalTime>
  <Pages>0</Pages>
  <Words>3469</Words>
  <Characters>0</Characters>
  <Application>Microsoft Office PowerPoint</Application>
  <PresentationFormat>全屏显示(4:3)</PresentationFormat>
  <Lines>0</Lines>
  <Paragraphs>644</Paragraphs>
  <Slides>47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75" baseType="lpstr">
      <vt:lpstr>Apple Symbols</vt:lpstr>
      <vt:lpstr>Gill Sans</vt:lpstr>
      <vt:lpstr>Monaco</vt:lpstr>
      <vt:lpstr>Zapf Dingbats</vt:lpstr>
      <vt:lpstr>ヒラギノ角ゴ ProN W3</vt:lpstr>
      <vt:lpstr>Arial</vt:lpstr>
      <vt:lpstr>Arial Narrow</vt:lpstr>
      <vt:lpstr>Arial Narrow Bold</vt:lpstr>
      <vt:lpstr>Arial Narrow Bold Italic</vt:lpstr>
      <vt:lpstr>Calibri</vt:lpstr>
      <vt:lpstr>Calibri Bold</vt:lpstr>
      <vt:lpstr>Calibri Bold Italic</vt:lpstr>
      <vt:lpstr>Calibri Italic</vt:lpstr>
      <vt:lpstr>Courier New</vt:lpstr>
      <vt:lpstr>Courier New Bold</vt:lpstr>
      <vt:lpstr>Helvetica</vt:lpstr>
      <vt:lpstr>Symbol</vt:lpstr>
      <vt:lpstr>Times</vt:lpstr>
      <vt:lpstr>Times New Roman</vt:lpstr>
      <vt:lpstr>Wingdings</vt:lpstr>
      <vt:lpstr>Wingdings 2</vt:lpstr>
      <vt:lpstr>Title Slide</vt:lpstr>
      <vt:lpstr>Title and Content</vt:lpstr>
      <vt:lpstr>Title and Content: Build</vt:lpstr>
      <vt:lpstr>Title Only</vt:lpstr>
      <vt:lpstr>template2007</vt:lpstr>
      <vt:lpstr>1_template2007</vt:lpstr>
      <vt:lpstr>Worksheet</vt:lpstr>
      <vt:lpstr>Floating Point  15-213: Introduction to Computer Systems 4th Lecture, Sept. 8, 2016</vt:lpstr>
      <vt:lpstr>Correction from last time</vt:lpstr>
      <vt:lpstr>Unsigned Multiplication in C</vt:lpstr>
      <vt:lpstr>Signed Multiplication in C</vt:lpstr>
      <vt:lpstr>Today: Floating Point</vt:lpstr>
      <vt:lpstr>Fractional binary numbers</vt:lpstr>
      <vt:lpstr>Fractional Binary Numbers</vt:lpstr>
      <vt:lpstr>Fractional Binary Numbers: Examples</vt:lpstr>
      <vt:lpstr>Representable Numbers</vt:lpstr>
      <vt:lpstr>Today: Floating Point</vt:lpstr>
      <vt:lpstr>IEEE Floating Point</vt:lpstr>
      <vt:lpstr>Floating Point Representation</vt:lpstr>
      <vt:lpstr>Precision options</vt:lpstr>
      <vt:lpstr>“Normalized” Values</vt:lpstr>
      <vt:lpstr>Normalized Encoding Example</vt:lpstr>
      <vt:lpstr>Denormalized Values</vt:lpstr>
      <vt:lpstr>Special Values</vt:lpstr>
      <vt:lpstr>C float Decoding Example</vt:lpstr>
      <vt:lpstr>C float Decoding Example</vt:lpstr>
      <vt:lpstr>C float Decoding Example</vt:lpstr>
      <vt:lpstr>Visualization: Floating Point Encodings</vt:lpstr>
      <vt:lpstr>Today: Floating Point</vt:lpstr>
      <vt:lpstr>Tiny Floating Point Example</vt:lpstr>
      <vt:lpstr>Dynamic Range (Positive Only)</vt:lpstr>
      <vt:lpstr>Distribution of Values</vt:lpstr>
      <vt:lpstr>Distribution of Values (close-up view)</vt:lpstr>
      <vt:lpstr>Special Properties of the IEEE Encoding</vt:lpstr>
      <vt:lpstr>Today: Floating Point</vt:lpstr>
      <vt:lpstr>Floating Point Operations: Basic Idea</vt:lpstr>
      <vt:lpstr>Rounding</vt:lpstr>
      <vt:lpstr>Closer Look at Round-To-Even</vt:lpstr>
      <vt:lpstr>Rounding Binary Numbers</vt:lpstr>
      <vt:lpstr>FP Multiplication</vt:lpstr>
      <vt:lpstr>Floating Point Addition</vt:lpstr>
      <vt:lpstr>Mathematical Properties of FP Add</vt:lpstr>
      <vt:lpstr>Mathematical Properties of FP Mult</vt:lpstr>
      <vt:lpstr>Today: Floating Point</vt:lpstr>
      <vt:lpstr>Floating Point in C</vt:lpstr>
      <vt:lpstr>Floating Point Puzzles</vt:lpstr>
      <vt:lpstr>Summary</vt:lpstr>
      <vt:lpstr>how rounding works</vt:lpstr>
      <vt:lpstr>Creating Floating Point Number</vt:lpstr>
      <vt:lpstr>Normalize</vt:lpstr>
      <vt:lpstr>Rounding</vt:lpstr>
      <vt:lpstr>Postnormalize</vt:lpstr>
      <vt:lpstr>Additional Slides</vt:lpstr>
      <vt:lpstr>Interesting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cp:lastModifiedBy>耀荣 谭</cp:lastModifiedBy>
  <cp:revision>110</cp:revision>
  <cp:lastPrinted>2012-09-05T04:08:39Z</cp:lastPrinted>
  <dcterms:created xsi:type="dcterms:W3CDTF">2012-09-06T15:16:51Z</dcterms:created>
  <dcterms:modified xsi:type="dcterms:W3CDTF">2024-08-18T13:11:32Z</dcterms:modified>
</cp:coreProperties>
</file>